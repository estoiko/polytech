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6858000" cx="12192000"/>
  <p:notesSz cx="6858000" cy="9144000"/>
  <p:embeddedFontLst>
    <p:embeddedFont>
      <p:font typeface="Bebas Neue"/>
      <p:regular r:id="rId40"/>
    </p:embeddedFont>
    <p:embeddedFont>
      <p:font typeface="Rubik"/>
      <p:regular r:id="rId41"/>
      <p:bold r:id="rId42"/>
      <p:italic r:id="rId43"/>
      <p:boldItalic r:id="rId44"/>
    </p:embeddedFont>
    <p:embeddedFont>
      <p:font typeface="Rubik SemiBold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49" roundtripDataSignature="AMtx7mihU/c4EgpaeRoAuKYtki65L4wY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D052EF1-D585-41B7-BB58-E0DA516CA39D}">
  <a:tblStyle styleId="{CD052EF1-D585-41B7-BB58-E0DA516CA39D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ebasNeue-regular.fntdata"/><Relationship Id="rId42" Type="http://schemas.openxmlformats.org/officeDocument/2006/relationships/font" Target="fonts/Rubik-bold.fntdata"/><Relationship Id="rId41" Type="http://schemas.openxmlformats.org/officeDocument/2006/relationships/font" Target="fonts/Rubik-regular.fntdata"/><Relationship Id="rId44" Type="http://schemas.openxmlformats.org/officeDocument/2006/relationships/font" Target="fonts/Rubik-boldItalic.fntdata"/><Relationship Id="rId43" Type="http://schemas.openxmlformats.org/officeDocument/2006/relationships/font" Target="fonts/Rubik-italic.fntdata"/><Relationship Id="rId46" Type="http://schemas.openxmlformats.org/officeDocument/2006/relationships/font" Target="fonts/RubikSemiBold-bold.fntdata"/><Relationship Id="rId45" Type="http://schemas.openxmlformats.org/officeDocument/2006/relationships/font" Target="fonts/Rubik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RubikSemiBold-boldItalic.fntdata"/><Relationship Id="rId47" Type="http://schemas.openxmlformats.org/officeDocument/2006/relationships/font" Target="fonts/RubikSemiBold-italic.fntdata"/><Relationship Id="rId49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/>
        </p:nvSpPr>
        <p:spPr>
          <a:xfrm>
            <a:off x="3884612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 txBox="1"/>
          <p:nvPr/>
        </p:nvSpPr>
        <p:spPr>
          <a:xfrm>
            <a:off x="3884612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2" name="Google Shape;52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53" name="Google Shape;53;p4:notes"/>
          <p:cNvSpPr txBox="1"/>
          <p:nvPr/>
        </p:nvSpPr>
        <p:spPr>
          <a:xfrm>
            <a:off x="3884612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69" name="Google Shape;69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70" name="Google Shape;70;p5:notes"/>
          <p:cNvSpPr txBox="1"/>
          <p:nvPr/>
        </p:nvSpPr>
        <p:spPr>
          <a:xfrm>
            <a:off x="3884612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90" name="Google Shape;90;p6:notes"/>
          <p:cNvSpPr txBox="1"/>
          <p:nvPr/>
        </p:nvSpPr>
        <p:spPr>
          <a:xfrm>
            <a:off x="3884612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9" name="Google Shape;209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18:notes"/>
          <p:cNvSpPr txBox="1"/>
          <p:nvPr>
            <p:ph idx="12" type="sldNum"/>
          </p:nvPr>
        </p:nvSpPr>
        <p:spPr>
          <a:xfrm>
            <a:off x="3884612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5"/>
          <p:cNvSpPr txBox="1"/>
          <p:nvPr>
            <p:ph idx="12" type="sldNum"/>
          </p:nvPr>
        </p:nvSpPr>
        <p:spPr>
          <a:xfrm>
            <a:off x="0" y="417512"/>
            <a:ext cx="2743200" cy="574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  <a:defRPr b="0" i="0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  <a:defRPr b="0" i="0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  <a:defRPr b="0" i="0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  <a:defRPr b="0" i="0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  <a:defRPr b="0" i="0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  <a:defRPr b="0" i="0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  <a:defRPr b="0" i="0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  <a:defRPr b="0" i="0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  <a:defRPr b="0" i="0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601200" y="481012"/>
            <a:ext cx="2036762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31825" y="-249237"/>
            <a:ext cx="1565275" cy="1874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812" y="6511925"/>
            <a:ext cx="1247140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4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4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34"/>
          <p:cNvSpPr txBox="1"/>
          <p:nvPr>
            <p:ph idx="12" type="sldNum"/>
          </p:nvPr>
        </p:nvSpPr>
        <p:spPr>
          <a:xfrm>
            <a:off x="0" y="417512"/>
            <a:ext cx="2743200" cy="574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  <a:defRPr b="0" i="0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  <a:defRPr b="0" i="0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  <a:defRPr b="0" i="0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  <a:defRPr b="0" i="0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  <a:defRPr b="0" i="0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  <a:defRPr b="0" i="0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  <a:defRPr b="0" i="0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  <a:defRPr b="0" i="0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  <a:defRPr b="0" i="0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1.gif"/><Relationship Id="rId4" Type="http://schemas.openxmlformats.org/officeDocument/2006/relationships/image" Target="../media/image17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14.png"/><Relationship Id="rId5" Type="http://schemas.openxmlformats.org/officeDocument/2006/relationships/image" Target="../media/image1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32.png"/><Relationship Id="rId5" Type="http://schemas.openxmlformats.org/officeDocument/2006/relationships/image" Target="../media/image3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29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4.png"/><Relationship Id="rId4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3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3.png"/><Relationship Id="rId4" Type="http://schemas.openxmlformats.org/officeDocument/2006/relationships/image" Target="../media/image4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6.png"/><Relationship Id="rId4" Type="http://schemas.openxmlformats.org/officeDocument/2006/relationships/image" Target="../media/image4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2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4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1.png"/><Relationship Id="rId4" Type="http://schemas.openxmlformats.org/officeDocument/2006/relationships/image" Target="../media/image51.png"/><Relationship Id="rId5" Type="http://schemas.openxmlformats.org/officeDocument/2006/relationships/image" Target="../media/image50.png"/><Relationship Id="rId6" Type="http://schemas.openxmlformats.org/officeDocument/2006/relationships/image" Target="../media/image3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4.png"/><Relationship Id="rId4" Type="http://schemas.openxmlformats.org/officeDocument/2006/relationships/image" Target="../media/image5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5.png"/><Relationship Id="rId4" Type="http://schemas.openxmlformats.org/officeDocument/2006/relationships/image" Target="../media/image4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"/>
          <p:cNvSpPr txBox="1"/>
          <p:nvPr/>
        </p:nvSpPr>
        <p:spPr>
          <a:xfrm>
            <a:off x="1895800" y="358425"/>
            <a:ext cx="77691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3C"/>
              </a:buClr>
              <a:buSzPts val="2800"/>
              <a:buFont typeface="Rubik"/>
              <a:buNone/>
            </a:pPr>
            <a:r>
              <a:rPr b="1" i="0" lang="en-US" sz="28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ИНСТРУМЕНТАЛЬНЫЕ СРЕДСТВА РАЗРАБОТКИ ТЕХНИЧЕСКОЙ ДОКУМЕНТАЦИИ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0" y="417512"/>
            <a:ext cx="2743200" cy="574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</a:pPr>
            <a:fld id="{00000000-1234-1234-1234-123412341234}" type="slidenum">
              <a:rPr b="0" i="0" lang="en-US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8091359" y="5414297"/>
            <a:ext cx="3659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Преподаватель: 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Карасева Светлана Анатольевна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3455160" y="3095578"/>
            <a:ext cx="4567405" cy="6155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Что будет в семестре?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 txBox="1"/>
          <p:nvPr/>
        </p:nvSpPr>
        <p:spPr>
          <a:xfrm>
            <a:off x="2089150" y="557200"/>
            <a:ext cx="5160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3C"/>
              </a:buClr>
              <a:buSzPts val="2800"/>
              <a:buFont typeface="Rubik"/>
              <a:buNone/>
            </a:pPr>
            <a:r>
              <a:rPr b="1" i="0" lang="en-US" sz="28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Что будет в семестре?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0" y="417512"/>
            <a:ext cx="27432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</a:pPr>
            <a:fld id="{00000000-1234-1234-1234-123412341234}" type="slidenum">
              <a:rPr b="0" i="0" lang="en-US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1213668" y="2830563"/>
            <a:ext cx="10851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 x</a:t>
            </a:r>
            <a:endParaRPr b="1" i="0" sz="43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7085418" y="2828763"/>
            <a:ext cx="10851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6A6E76"/>
                </a:solidFill>
                <a:latin typeface="Comic Sans MS"/>
                <a:ea typeface="Comic Sans MS"/>
                <a:cs typeface="Comic Sans MS"/>
                <a:sym typeface="Comic Sans MS"/>
              </a:rPr>
              <a:t>2 x</a:t>
            </a:r>
            <a:endParaRPr b="1" i="0" sz="4300" u="none" cap="none" strike="noStrike">
              <a:solidFill>
                <a:srgbClr val="6A6E76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6239021" y="2828782"/>
            <a:ext cx="585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+</a:t>
            </a:r>
            <a:endParaRPr b="1" i="0" sz="43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6" name="Google Shape;36;p2"/>
          <p:cNvSpPr txBox="1"/>
          <p:nvPr/>
        </p:nvSpPr>
        <p:spPr>
          <a:xfrm rot="-153296">
            <a:off x="8160365" y="4494334"/>
            <a:ext cx="3129411" cy="84654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5 работ</a:t>
            </a:r>
            <a:endParaRPr b="1" i="0" sz="43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7" name="Google Shape;37;p2"/>
          <p:cNvSpPr/>
          <p:nvPr/>
        </p:nvSpPr>
        <p:spPr>
          <a:xfrm rot="-199161">
            <a:off x="517043" y="4506564"/>
            <a:ext cx="10864057" cy="69548"/>
          </a:xfrm>
          <a:custGeom>
            <a:rect b="b" l="l" r="r" t="t"/>
            <a:pathLst>
              <a:path extrusionOk="0" h="2782" w="434572">
                <a:moveTo>
                  <a:pt x="0" y="0"/>
                </a:moveTo>
                <a:cubicBezTo>
                  <a:pt x="144860" y="0"/>
                  <a:pt x="289712" y="2782"/>
                  <a:pt x="434572" y="2782"/>
                </a:cubicBezTo>
              </a:path>
            </a:pathLst>
          </a:custGeom>
          <a:noFill/>
          <a:ln cap="flat" cmpd="sng" w="1143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" name="Google Shape;3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8777" y="2516275"/>
            <a:ext cx="3542675" cy="147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64941" y="2642475"/>
            <a:ext cx="1981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 txBox="1"/>
          <p:nvPr/>
        </p:nvSpPr>
        <p:spPr>
          <a:xfrm>
            <a:off x="2089150" y="557200"/>
            <a:ext cx="5160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3C"/>
              </a:buClr>
              <a:buSzPts val="2800"/>
              <a:buFont typeface="Rubik"/>
              <a:buNone/>
            </a:pPr>
            <a:r>
              <a:rPr b="1" i="0" lang="en-US" sz="28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Что будет в семестре?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0" y="417512"/>
            <a:ext cx="27432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</a:pPr>
            <a:fld id="{00000000-1234-1234-1234-123412341234}" type="slidenum">
              <a:rPr b="0" i="0" lang="en-US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1630775" y="2898300"/>
            <a:ext cx="4881900" cy="16554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0073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Лабораторные брать здесь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" name="Google Shape;4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7200" y="1990113"/>
            <a:ext cx="3076575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"/>
          <p:cNvSpPr txBox="1"/>
          <p:nvPr/>
        </p:nvSpPr>
        <p:spPr>
          <a:xfrm>
            <a:off x="7549438" y="5176650"/>
            <a:ext cx="225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https://clck.ru/3RgW9W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 txBox="1"/>
          <p:nvPr/>
        </p:nvSpPr>
        <p:spPr>
          <a:xfrm>
            <a:off x="2089150" y="557200"/>
            <a:ext cx="5160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3C"/>
              </a:buClr>
              <a:buSzPts val="2800"/>
              <a:buFont typeface="Rubik"/>
              <a:buNone/>
            </a:pPr>
            <a:r>
              <a:rPr b="1" i="0" lang="en-US" sz="28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Где делать лабы?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0" y="417512"/>
            <a:ext cx="27432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</a:pPr>
            <a:fld id="{00000000-1234-1234-1234-123412341234}" type="slidenum">
              <a:rPr b="0" i="0" lang="en-US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1687700" y="2150175"/>
            <a:ext cx="3619500" cy="679500"/>
          </a:xfrm>
          <a:prstGeom prst="rect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Установка ПО для работы с LaTeX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(TeXStudio + MikTeX / TeXLive)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19700" y="3119650"/>
            <a:ext cx="2023500" cy="29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Здесь код будешь писать</a:t>
            </a:r>
            <a:endParaRPr b="0" i="1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4574650" y="3119650"/>
            <a:ext cx="1371300" cy="49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Здесь компилировать</a:t>
            </a:r>
            <a:endParaRPr b="0" i="1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" name="Google Shape;60;p4"/>
          <p:cNvCxnSpPr/>
          <p:nvPr/>
        </p:nvCxnSpPr>
        <p:spPr>
          <a:xfrm flipH="1" rot="10800000">
            <a:off x="2268650" y="2910175"/>
            <a:ext cx="273300" cy="267000"/>
          </a:xfrm>
          <a:prstGeom prst="straightConnector1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" name="Google Shape;61;p4"/>
          <p:cNvCxnSpPr/>
          <p:nvPr/>
        </p:nvCxnSpPr>
        <p:spPr>
          <a:xfrm rot="10800000">
            <a:off x="4574650" y="2829750"/>
            <a:ext cx="111300" cy="272700"/>
          </a:xfrm>
          <a:prstGeom prst="straightConnector1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" name="Google Shape;62;p4"/>
          <p:cNvCxnSpPr>
            <a:stCxn id="59" idx="1"/>
          </p:cNvCxnSpPr>
          <p:nvPr/>
        </p:nvCxnSpPr>
        <p:spPr>
          <a:xfrm rot="10800000">
            <a:off x="3891850" y="3076750"/>
            <a:ext cx="682800" cy="289200"/>
          </a:xfrm>
          <a:prstGeom prst="straightConnector1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63" name="Google Shape;63;p4"/>
          <p:cNvPicPr preferRelativeResize="0"/>
          <p:nvPr/>
        </p:nvPicPr>
        <p:blipFill rotWithShape="1">
          <a:blip r:embed="rId3">
            <a:alphaModFix/>
          </a:blip>
          <a:srcRect b="20685" l="0" r="0" t="0"/>
          <a:stretch/>
        </p:blipFill>
        <p:spPr>
          <a:xfrm>
            <a:off x="8074650" y="2829750"/>
            <a:ext cx="3511823" cy="10432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4"/>
          <p:cNvSpPr/>
          <p:nvPr/>
        </p:nvSpPr>
        <p:spPr>
          <a:xfrm>
            <a:off x="8074638" y="2150175"/>
            <a:ext cx="3619500" cy="461700"/>
          </a:xfrm>
          <a:prstGeom prst="rect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Поиск подходящего онлайн-компилятора</a:t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5" name="Google Shape;6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19650" y="4056525"/>
            <a:ext cx="1232750" cy="12327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4"/>
          <p:cNvSpPr/>
          <p:nvPr/>
        </p:nvSpPr>
        <p:spPr>
          <a:xfrm>
            <a:off x="9784200" y="4385500"/>
            <a:ext cx="13713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0173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TeXPage</a:t>
            </a:r>
            <a:endParaRPr b="0" i="0" sz="2300" u="none" cap="none" strike="noStrike">
              <a:solidFill>
                <a:srgbClr val="0173C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 txBox="1"/>
          <p:nvPr/>
        </p:nvSpPr>
        <p:spPr>
          <a:xfrm>
            <a:off x="2089150" y="557200"/>
            <a:ext cx="5160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3C"/>
              </a:buClr>
              <a:buSzPts val="2800"/>
              <a:buFont typeface="Rubik"/>
              <a:buNone/>
            </a:pPr>
            <a:r>
              <a:rPr b="1" i="0" lang="en-US" sz="28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Сроки сдачи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0" y="417512"/>
            <a:ext cx="27432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</a:pPr>
            <a:fld id="{00000000-1234-1234-1234-123412341234}" type="slidenum">
              <a:rPr b="0" i="0" lang="en-US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1924995" y="1802263"/>
            <a:ext cx="6900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58150" lIns="58150" spcFirstLastPara="1" rIns="58150" wrap="square" tIns="58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4"/>
              <a:buFont typeface="Arial"/>
              <a:buNone/>
            </a:pPr>
            <a:r>
              <a:rPr b="1" i="0" lang="en-US" sz="2734" u="none" cap="none" strike="noStrike">
                <a:solidFill>
                  <a:srgbClr val="0173C1"/>
                </a:solidFill>
                <a:latin typeface="Comic Sans MS"/>
                <a:ea typeface="Comic Sans MS"/>
                <a:cs typeface="Comic Sans MS"/>
                <a:sym typeface="Comic Sans MS"/>
              </a:rPr>
              <a:t>1 x</a:t>
            </a:r>
            <a:endParaRPr b="1" i="0" sz="2734" u="none" cap="none" strike="noStrike">
              <a:solidFill>
                <a:srgbClr val="0173C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1902657" y="2905837"/>
            <a:ext cx="6900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58150" lIns="58150" spcFirstLastPara="1" rIns="58150" wrap="square" tIns="58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4"/>
              <a:buFont typeface="Arial"/>
              <a:buNone/>
            </a:pPr>
            <a:r>
              <a:rPr b="1" i="0" lang="en-US" sz="2734" u="none" cap="none" strike="noStrike">
                <a:solidFill>
                  <a:srgbClr val="75B17D"/>
                </a:solidFill>
                <a:latin typeface="Comic Sans MS"/>
                <a:ea typeface="Comic Sans MS"/>
                <a:cs typeface="Comic Sans MS"/>
                <a:sym typeface="Comic Sans MS"/>
              </a:rPr>
              <a:t>2 x</a:t>
            </a:r>
            <a:endParaRPr b="1" i="0" sz="2734" u="none" cap="none" strike="noStrike">
              <a:solidFill>
                <a:srgbClr val="75B17D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1907996" y="4040398"/>
            <a:ext cx="6900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58150" lIns="58150" spcFirstLastPara="1" rIns="58150" wrap="square" tIns="58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4"/>
              <a:buFont typeface="Arial"/>
              <a:buNone/>
            </a:pPr>
            <a:r>
              <a:rPr b="1" i="0" lang="en-US" sz="2734" u="none" cap="none" strike="noStrike">
                <a:solidFill>
                  <a:schemeClr val="accent4"/>
                </a:solidFill>
                <a:latin typeface="Comic Sans MS"/>
                <a:ea typeface="Comic Sans MS"/>
                <a:cs typeface="Comic Sans MS"/>
                <a:sym typeface="Comic Sans MS"/>
              </a:rPr>
              <a:t>2 x</a:t>
            </a:r>
            <a:endParaRPr b="1" i="0" sz="2734" u="none" cap="none" strike="noStrike">
              <a:solidFill>
                <a:schemeClr val="accent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5677127" y="1768530"/>
            <a:ext cx="19278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58150" lIns="58150" spcFirstLastPara="1" rIns="58150" wrap="square" tIns="58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4"/>
              <a:buFont typeface="Arial"/>
              <a:buNone/>
            </a:pPr>
            <a:r>
              <a:rPr b="1" i="0" lang="en-US" sz="2734" u="none" cap="none" strike="noStrike">
                <a:solidFill>
                  <a:srgbClr val="0173C1"/>
                </a:solidFill>
                <a:latin typeface="Comic Sans MS"/>
                <a:ea typeface="Comic Sans MS"/>
                <a:cs typeface="Comic Sans MS"/>
                <a:sym typeface="Comic Sans MS"/>
              </a:rPr>
              <a:t>февраль</a:t>
            </a:r>
            <a:endParaRPr b="1" i="0" sz="2734" u="none" cap="none" strike="noStrike">
              <a:solidFill>
                <a:srgbClr val="0173C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5654755" y="2872105"/>
            <a:ext cx="16611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58150" lIns="58150" spcFirstLastPara="1" rIns="58150" wrap="square" tIns="58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4"/>
              <a:buFont typeface="Arial"/>
              <a:buNone/>
            </a:pPr>
            <a:r>
              <a:rPr b="1" i="0" lang="en-US" sz="2734" u="none" cap="none" strike="noStrike">
                <a:solidFill>
                  <a:srgbClr val="75B17D"/>
                </a:solidFill>
                <a:latin typeface="Comic Sans MS"/>
                <a:ea typeface="Comic Sans MS"/>
                <a:cs typeface="Comic Sans MS"/>
                <a:sym typeface="Comic Sans MS"/>
              </a:rPr>
              <a:t>март</a:t>
            </a:r>
            <a:endParaRPr b="1" i="0" sz="2734" u="none" cap="none" strike="noStrike">
              <a:solidFill>
                <a:srgbClr val="75B17D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5660122" y="4006680"/>
            <a:ext cx="17748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58150" lIns="58150" spcFirstLastPara="1" rIns="58150" wrap="square" tIns="58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4"/>
              <a:buFont typeface="Arial"/>
              <a:buNone/>
            </a:pPr>
            <a:r>
              <a:rPr b="1" i="0" lang="en-US" sz="2734" u="none" cap="none" strike="noStrike">
                <a:solidFill>
                  <a:srgbClr val="F1C232"/>
                </a:solidFill>
                <a:latin typeface="Comic Sans MS"/>
                <a:ea typeface="Comic Sans MS"/>
                <a:cs typeface="Comic Sans MS"/>
                <a:sym typeface="Comic Sans MS"/>
              </a:rPr>
              <a:t>апрель</a:t>
            </a:r>
            <a:endParaRPr b="1" i="0" sz="2734" u="none" cap="none" strike="noStrike">
              <a:solidFill>
                <a:srgbClr val="F1C23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5753330" y="5378280"/>
            <a:ext cx="17748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58150" lIns="58150" spcFirstLastPara="1" rIns="58150" wrap="square" tIns="58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4"/>
              <a:buFont typeface="Arial"/>
              <a:buNone/>
            </a:pPr>
            <a:r>
              <a:rPr b="1" i="0" lang="en-US" sz="2734" u="none" cap="none" strike="noStrike">
                <a:solidFill>
                  <a:srgbClr val="CC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май</a:t>
            </a:r>
            <a:endParaRPr b="1" i="0" sz="2734" u="none" cap="none" strike="noStrike">
              <a:solidFill>
                <a:srgbClr val="CC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a cat wearing a blue shirt is sitting in front of an apple laptop . (источник: Tenor)" id="81" name="Google Shape;8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84275" y="2497500"/>
            <a:ext cx="2714075" cy="271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64675" y="1670925"/>
            <a:ext cx="1924070" cy="80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64675" y="2774475"/>
            <a:ext cx="1924070" cy="80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8846" y="5063358"/>
            <a:ext cx="1924070" cy="80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59575" y="3882650"/>
            <a:ext cx="1419800" cy="87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36822" y="5601750"/>
            <a:ext cx="1301950" cy="80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 txBox="1"/>
          <p:nvPr/>
        </p:nvSpPr>
        <p:spPr>
          <a:xfrm>
            <a:off x="2089150" y="557200"/>
            <a:ext cx="5160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3C"/>
              </a:buClr>
              <a:buSzPts val="2800"/>
              <a:buFont typeface="Rubik"/>
              <a:buNone/>
            </a:pPr>
            <a:r>
              <a:rPr b="1" i="0" lang="en-US" sz="28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Что будет на сессии?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0" y="417512"/>
            <a:ext cx="27432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</a:pPr>
            <a:fld id="{00000000-1234-1234-1234-123412341234}" type="slidenum">
              <a:rPr b="0" i="0" lang="en-US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162" y="4362450"/>
            <a:ext cx="1693325" cy="208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5550" y="4362450"/>
            <a:ext cx="1409983" cy="20898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6"/>
          <p:cNvSpPr txBox="1"/>
          <p:nvPr/>
        </p:nvSpPr>
        <p:spPr>
          <a:xfrm>
            <a:off x="332563" y="1919113"/>
            <a:ext cx="457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Все работы сданы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2218275" y="4210700"/>
            <a:ext cx="1410000" cy="574800"/>
          </a:xfrm>
          <a:prstGeom prst="wedgeRoundRectCallout">
            <a:avLst>
              <a:gd fmla="val -37051" name="adj1"/>
              <a:gd fmla="val 72795" name="adj2"/>
              <a:gd fmla="val 0" name="adj3"/>
            </a:avLst>
          </a:prstGeom>
          <a:noFill/>
          <a:ln cap="flat" cmpd="sng" w="28575">
            <a:solidFill>
              <a:srgbClr val="0073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ЗАЧЕТ</a:t>
            </a:r>
            <a:endParaRPr b="0" i="0" sz="1400" u="none" cap="none" strike="noStrike">
              <a:solidFill>
                <a:srgbClr val="000000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cxnSp>
        <p:nvCxnSpPr>
          <p:cNvPr id="98" name="Google Shape;98;p6"/>
          <p:cNvCxnSpPr>
            <a:stCxn id="96" idx="2"/>
          </p:cNvCxnSpPr>
          <p:nvPr/>
        </p:nvCxnSpPr>
        <p:spPr>
          <a:xfrm>
            <a:off x="2620213" y="2380813"/>
            <a:ext cx="0" cy="1404300"/>
          </a:xfrm>
          <a:prstGeom prst="straightConnector1">
            <a:avLst/>
          </a:prstGeom>
          <a:noFill/>
          <a:ln cap="flat" cmpd="sng" w="28575">
            <a:solidFill>
              <a:srgbClr val="00733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" name="Google Shape;99;p6"/>
          <p:cNvSpPr txBox="1"/>
          <p:nvPr/>
        </p:nvSpPr>
        <p:spPr>
          <a:xfrm>
            <a:off x="6730213" y="1596091"/>
            <a:ext cx="457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 все работы сданы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0" name="Google Shape;100;p6"/>
          <p:cNvPicPr preferRelativeResize="0"/>
          <p:nvPr/>
        </p:nvPicPr>
        <p:blipFill rotWithShape="1">
          <a:blip r:embed="rId5">
            <a:alphaModFix/>
          </a:blip>
          <a:srcRect b="18473" l="0" r="0" t="0"/>
          <a:stretch/>
        </p:blipFill>
        <p:spPr>
          <a:xfrm>
            <a:off x="7719950" y="2688375"/>
            <a:ext cx="1541901" cy="1257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6"/>
          <p:cNvSpPr txBox="1"/>
          <p:nvPr/>
        </p:nvSpPr>
        <p:spPr>
          <a:xfrm>
            <a:off x="9123324" y="2893925"/>
            <a:ext cx="1979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Попытка сдать все работы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2" name="Google Shape;102;p6"/>
          <p:cNvCxnSpPr/>
          <p:nvPr/>
        </p:nvCxnSpPr>
        <p:spPr>
          <a:xfrm flipH="1">
            <a:off x="3944775" y="3490700"/>
            <a:ext cx="3556800" cy="1012800"/>
          </a:xfrm>
          <a:prstGeom prst="straightConnector1">
            <a:avLst/>
          </a:prstGeom>
          <a:noFill/>
          <a:ln cap="flat" cmpd="sng" w="28575">
            <a:solidFill>
              <a:srgbClr val="00733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" name="Google Shape;103;p6"/>
          <p:cNvCxnSpPr/>
          <p:nvPr/>
        </p:nvCxnSpPr>
        <p:spPr>
          <a:xfrm>
            <a:off x="9333600" y="2067350"/>
            <a:ext cx="24600" cy="483000"/>
          </a:xfrm>
          <a:prstGeom prst="straightConnector1">
            <a:avLst/>
          </a:prstGeom>
          <a:noFill/>
          <a:ln cap="flat" cmpd="sng" w="28575">
            <a:solidFill>
              <a:srgbClr val="6A6E7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4" name="Google Shape;104;p6"/>
          <p:cNvSpPr/>
          <p:nvPr/>
        </p:nvSpPr>
        <p:spPr>
          <a:xfrm>
            <a:off x="8485550" y="5629075"/>
            <a:ext cx="1410000" cy="574800"/>
          </a:xfrm>
          <a:prstGeom prst="wedgeRoundRectCallout">
            <a:avLst>
              <a:gd fmla="val 46105" name="adj1"/>
              <a:gd fmla="val -88500" name="adj2"/>
              <a:gd fmla="val 0" name="adj3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ДОПСА</a:t>
            </a:r>
            <a:endParaRPr b="0" i="0" sz="1400" u="none" cap="none" strike="noStrike">
              <a:solidFill>
                <a:srgbClr val="000000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cxnSp>
        <p:nvCxnSpPr>
          <p:cNvPr id="105" name="Google Shape;105;p6"/>
          <p:cNvCxnSpPr/>
          <p:nvPr/>
        </p:nvCxnSpPr>
        <p:spPr>
          <a:xfrm>
            <a:off x="9017863" y="4085104"/>
            <a:ext cx="0" cy="1404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 txBox="1"/>
          <p:nvPr/>
        </p:nvSpPr>
        <p:spPr>
          <a:xfrm>
            <a:off x="2089150" y="557212"/>
            <a:ext cx="47990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3C"/>
              </a:buClr>
              <a:buSzPts val="2800"/>
              <a:buFont typeface="Rubik"/>
              <a:buNone/>
            </a:pPr>
            <a:r>
              <a:rPr b="1" i="0" lang="en-US" sz="28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Связь с преподавателем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7"/>
          <p:cNvSpPr txBox="1"/>
          <p:nvPr/>
        </p:nvSpPr>
        <p:spPr>
          <a:xfrm>
            <a:off x="0" y="417512"/>
            <a:ext cx="2743200" cy="574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</a:pPr>
            <a:fld id="{00000000-1234-1234-1234-123412341234}" type="slidenum">
              <a:rPr b="0" i="0" lang="en-US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1201737" y="2511425"/>
            <a:ext cx="2586037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способ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Почта: karaseva_sa@spbstu.ru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6545262" y="2511425"/>
            <a:ext cx="32258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 способ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Telegram: @karasveta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Только по важным вопросам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telegram.org/c4dde864-e614-4417-8d29-ce4cb5f24232" id="114" name="Google Shape;114;p7"/>
          <p:cNvSpPr txBox="1"/>
          <p:nvPr/>
        </p:nvSpPr>
        <p:spPr>
          <a:xfrm>
            <a:off x="144462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blob:https://web.telegram.org/c4dde864-e614-4417-8d29-ce4cb5f24232" id="115" name="Google Shape;115;p7"/>
          <p:cNvSpPr txBox="1"/>
          <p:nvPr/>
        </p:nvSpPr>
        <p:spPr>
          <a:xfrm>
            <a:off x="144462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blob:https://web.telegram.org/c4dde864-e614-4417-8d29-ce4cb5f24232" id="116" name="Google Shape;116;p7"/>
          <p:cNvSpPr txBox="1"/>
          <p:nvPr/>
        </p:nvSpPr>
        <p:spPr>
          <a:xfrm>
            <a:off x="144462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blob:https://web.telegram.org/c4dde864-e614-4417-8d29-ce4cb5f24232" id="117" name="Google Shape;117;p7"/>
          <p:cNvSpPr txBox="1"/>
          <p:nvPr/>
        </p:nvSpPr>
        <p:spPr>
          <a:xfrm>
            <a:off x="144462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7087" y="3716337"/>
            <a:ext cx="1979612" cy="2008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/>
        </p:nvSpPr>
        <p:spPr>
          <a:xfrm>
            <a:off x="1895800" y="358425"/>
            <a:ext cx="77691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3C"/>
              </a:buClr>
              <a:buSzPts val="2800"/>
              <a:buFont typeface="Rubik"/>
              <a:buNone/>
            </a:pPr>
            <a:r>
              <a:rPr b="1" i="0" lang="en-US" sz="28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ИНСТРУМЕНТАЛЬНЫЕ СРЕДСТВА РАЗРАБОТКИ ТЕХНИЧЕСКОЙ ДОКУМЕНТАЦИИ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8"/>
          <p:cNvSpPr txBox="1"/>
          <p:nvPr/>
        </p:nvSpPr>
        <p:spPr>
          <a:xfrm>
            <a:off x="0" y="417512"/>
            <a:ext cx="2743200" cy="574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</a:pPr>
            <a:fld id="{00000000-1234-1234-1234-123412341234}" type="slidenum">
              <a:rPr b="0" i="0" lang="en-US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8"/>
          <p:cNvSpPr txBox="1"/>
          <p:nvPr/>
        </p:nvSpPr>
        <p:spPr>
          <a:xfrm>
            <a:off x="8091359" y="5414297"/>
            <a:ext cx="3659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Преподаватель: 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Карасева Светлана Анатольевна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8"/>
          <p:cNvSpPr txBox="1"/>
          <p:nvPr/>
        </p:nvSpPr>
        <p:spPr>
          <a:xfrm>
            <a:off x="3455161" y="2905795"/>
            <a:ext cx="3659700" cy="104641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LaTeX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Введение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/>
        </p:nvSpPr>
        <p:spPr>
          <a:xfrm>
            <a:off x="0" y="417512"/>
            <a:ext cx="2743200" cy="574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</a:pPr>
            <a:fld id="{00000000-1234-1234-1234-123412341234}" type="slidenum">
              <a:rPr b="0" i="0" lang="en-US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9"/>
          <p:cNvSpPr txBox="1"/>
          <p:nvPr/>
        </p:nvSpPr>
        <p:spPr>
          <a:xfrm>
            <a:off x="1895800" y="755244"/>
            <a:ext cx="776910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КАК ПРАВИЛЬНО ПРОИЗНОСИТЬ?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911" y="2368259"/>
            <a:ext cx="1415962" cy="81307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9"/>
          <p:cNvSpPr txBox="1"/>
          <p:nvPr/>
        </p:nvSpPr>
        <p:spPr>
          <a:xfrm>
            <a:off x="2148277" y="2495932"/>
            <a:ext cx="899695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− греческие буквы </a:t>
            </a:r>
            <a:r>
              <a:rPr b="0" i="1" lang="en-US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тау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эпсилон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b="0" i="1" lang="en-US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хи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Произносится [тех].</a:t>
            </a:r>
            <a:endParaRPr/>
          </a:p>
        </p:txBody>
      </p:sp>
      <p:pic>
        <p:nvPicPr>
          <p:cNvPr id="135" name="Google Shape;13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573" y="4122622"/>
            <a:ext cx="2219378" cy="92474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6" name="Google Shape;136;p9"/>
          <p:cNvGraphicFramePr/>
          <p:nvPr/>
        </p:nvGraphicFramePr>
        <p:xfrm>
          <a:off x="3157268" y="39408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{CD052EF1-D585-41B7-BB58-E0DA516CA39D}</a:tableStyleId>
              </a:tblPr>
              <a:tblGrid>
                <a:gridCol w="483075"/>
                <a:gridCol w="8067925"/>
              </a:tblGrid>
              <a:tr h="17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lang="en-US" sz="2800" u="none" cap="none" strike="noStrike">
                          <a:solidFill>
                            <a:schemeClr val="dk1"/>
                          </a:solidFill>
                        </a:rPr>
                        <a:t>−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800" u="none" cap="none" strike="noStrike">
                          <a:solidFill>
                            <a:schemeClr val="dk1"/>
                          </a:solidFill>
                        </a:rPr>
                        <a:t>первые две буквы являются начальными буквами фамилии создателя. </a:t>
                      </a:r>
                      <a:endParaRPr b="0" sz="2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800" u="none" cap="none" strike="noStrike">
                          <a:solidFill>
                            <a:schemeClr val="dk1"/>
                          </a:solidFill>
                        </a:rPr>
                        <a:t>Произносится [латех].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/>
        </p:nvSpPr>
        <p:spPr>
          <a:xfrm>
            <a:off x="0" y="417512"/>
            <a:ext cx="2743200" cy="574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</a:pPr>
            <a:fld id="{00000000-1234-1234-1234-123412341234}" type="slidenum">
              <a:rPr b="0" i="0" lang="en-US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0"/>
          <p:cNvSpPr txBox="1"/>
          <p:nvPr/>
        </p:nvSpPr>
        <p:spPr>
          <a:xfrm>
            <a:off x="1895800" y="686232"/>
            <a:ext cx="776910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ЧТО ТАКОЕ TeX?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0"/>
          <p:cNvSpPr txBox="1"/>
          <p:nvPr/>
        </p:nvSpPr>
        <p:spPr>
          <a:xfrm>
            <a:off x="4504084" y="3083810"/>
            <a:ext cx="5192007" cy="11498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 – созданная </a:t>
            </a:r>
            <a:r>
              <a:rPr b="0" i="0" lang="en-US" sz="20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Дональдом Кнутом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система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верстки текста и математических формул.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4" name="Google Shape;14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487" y="2518824"/>
            <a:ext cx="3060526" cy="3188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 txBox="1"/>
          <p:nvPr/>
        </p:nvSpPr>
        <p:spPr>
          <a:xfrm>
            <a:off x="0" y="417512"/>
            <a:ext cx="2743200" cy="574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</a:pPr>
            <a:fld id="{00000000-1234-1234-1234-123412341234}" type="slidenum">
              <a:rPr b="0" i="0" lang="en-US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1"/>
          <p:cNvSpPr txBox="1"/>
          <p:nvPr/>
        </p:nvSpPr>
        <p:spPr>
          <a:xfrm>
            <a:off x="1895800" y="634473"/>
            <a:ext cx="776910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ПОЧЕМУ ПОЯВИЛСЯ TeX?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1"/>
          <p:cNvSpPr txBox="1"/>
          <p:nvPr/>
        </p:nvSpPr>
        <p:spPr>
          <a:xfrm>
            <a:off x="286109" y="1952385"/>
            <a:ext cx="11583837" cy="67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Предыстория: проблема научной вёрстки в 1970‑х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1"/>
          <p:cNvSpPr txBox="1"/>
          <p:nvPr/>
        </p:nvSpPr>
        <p:spPr>
          <a:xfrm>
            <a:off x="228597" y="2843541"/>
            <a:ext cx="11687355" cy="2591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1970‑х годах подготовка научных публикаций представляла серьёзную проблему: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000" lvl="5" marL="450000" marR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ручное оформление формул было трудоёмким и не воспроизводимым;</a:t>
            </a:r>
            <a:endParaRPr/>
          </a:p>
          <a:p>
            <a:pPr indent="-450000" lvl="5" marL="450000" marR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типографские услуги стоили дорого;</a:t>
            </a:r>
            <a:endParaRPr/>
          </a:p>
          <a:p>
            <a:pPr indent="-450000" lvl="5" marL="450000" marR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отсутствие стандартов приводило к непоследовательности оформления.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Исследователи вынуждены были либо тратить месяцы на подготовку рукописей, либо полагаться на профессиональных наборщиков, что замедляло публикацию результатов.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 txBox="1"/>
          <p:nvPr/>
        </p:nvSpPr>
        <p:spPr>
          <a:xfrm>
            <a:off x="0" y="417512"/>
            <a:ext cx="2743200" cy="574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</a:pPr>
            <a:fld id="{00000000-1234-1234-1234-123412341234}" type="slidenum">
              <a:rPr b="0" i="0" lang="en-US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2"/>
          <p:cNvSpPr txBox="1"/>
          <p:nvPr/>
        </p:nvSpPr>
        <p:spPr>
          <a:xfrm>
            <a:off x="1895800" y="668979"/>
            <a:ext cx="776910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ПОЧЕМУ ПОЯВИЛСЯ TeX?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2"/>
          <p:cNvSpPr txBox="1"/>
          <p:nvPr/>
        </p:nvSpPr>
        <p:spPr>
          <a:xfrm>
            <a:off x="-1" y="2209073"/>
            <a:ext cx="12192001" cy="4278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1969 год: дебют «Искусства программирования»</a:t>
            </a:r>
            <a:endParaRPr b="1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Первый том книги Д. Кнута издан методом </a:t>
            </a: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монотипии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Результат: издание в «хорошем классическом стиле», которое полностью соответствовало вкусам автора.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1976 год: проблема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 подготовке второго издания второго тома монотипия уже почти не использовалась — её заменила фотографическая техника.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Оригинальные шрифты утрачены: книгу пришлось набирать заново.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Март 1977 года: разочарование</a:t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Полученные оттиски второго издания выглядели </a:t>
            </a: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неудовлетворительно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Параллельно Кнут знакомится с возможностями </a:t>
            </a: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высококачественной цифровой типографической системы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и видит потенциал цифрового формата.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 мая 1977 года: точка отсчёта TeX</a:t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Кнут записывает первые идеи о базовой функциональности системы.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Цель: создать собственное решение, которое раз и навсегда устранит проблемы типографики в научных изданиях.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12"/>
          <p:cNvSpPr txBox="1"/>
          <p:nvPr/>
        </p:nvSpPr>
        <p:spPr>
          <a:xfrm>
            <a:off x="148085" y="1590079"/>
            <a:ext cx="11888638" cy="704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Как разочарование в типографике привело к созданию TeX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"/>
          <p:cNvSpPr txBox="1"/>
          <p:nvPr/>
        </p:nvSpPr>
        <p:spPr>
          <a:xfrm>
            <a:off x="0" y="417512"/>
            <a:ext cx="2743200" cy="574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</a:pPr>
            <a:fld id="{00000000-1234-1234-1234-123412341234}" type="slidenum">
              <a:rPr b="0" i="0" lang="en-US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3"/>
          <p:cNvSpPr txBox="1"/>
          <p:nvPr/>
        </p:nvSpPr>
        <p:spPr>
          <a:xfrm>
            <a:off x="1895800" y="686232"/>
            <a:ext cx="776910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ЧТО ТАКОЕ LaTeX?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166" y="1874759"/>
            <a:ext cx="3512857" cy="373241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3"/>
          <p:cNvSpPr txBox="1"/>
          <p:nvPr/>
        </p:nvSpPr>
        <p:spPr>
          <a:xfrm>
            <a:off x="4964499" y="1840253"/>
            <a:ext cx="609600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LaTeX – созданный </a:t>
            </a:r>
            <a:r>
              <a:rPr b="0" i="0" lang="en-US" sz="20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Лэсли Лэмпортом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макропакет, позволяющий верстать и печатать документы высокого типографического качества, при помощи заранее определенных макетов.</a:t>
            </a:r>
            <a:endParaRPr/>
          </a:p>
        </p:txBody>
      </p:sp>
      <p:sp>
        <p:nvSpPr>
          <p:cNvPr id="169" name="Google Shape;169;p13"/>
          <p:cNvSpPr txBox="1"/>
          <p:nvPr/>
        </p:nvSpPr>
        <p:spPr>
          <a:xfrm>
            <a:off x="4964499" y="3763321"/>
            <a:ext cx="6853690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Основные идеи LaTeX: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WYSIWYM (What You See Is What You Mean) — пользователь задаёт </a:t>
            </a:r>
            <a:r>
              <a:rPr b="0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смысловую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структуру документа, а не визуальное оформление;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разделение содержания и оформления;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готовые шаблоны для стандартных элементов (заголовки, списки, формулы).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"/>
          <p:cNvSpPr txBox="1"/>
          <p:nvPr/>
        </p:nvSpPr>
        <p:spPr>
          <a:xfrm>
            <a:off x="0" y="417512"/>
            <a:ext cx="2743200" cy="574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</a:pPr>
            <a:fld id="{00000000-1234-1234-1234-123412341234}" type="slidenum">
              <a:rPr b="0" i="0" lang="en-US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4"/>
          <p:cNvSpPr txBox="1"/>
          <p:nvPr/>
        </p:nvSpPr>
        <p:spPr>
          <a:xfrm>
            <a:off x="1895800" y="772497"/>
            <a:ext cx="776910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СОВРЕМЕННОЕ СОСТОЯНИЕ LaTeX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4"/>
          <p:cNvSpPr txBox="1"/>
          <p:nvPr/>
        </p:nvSpPr>
        <p:spPr>
          <a:xfrm>
            <a:off x="603852" y="2015408"/>
            <a:ext cx="1121434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Де‑факто стандарт для публикаций в математике, физике и компьютерных науках;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Интеграция с научными сервисами — автоматическое оформление по шаблонам журналов (Elsevier, Springer);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Обеспечивает воспроизводимость научных документов;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Лежит в основе систем типа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arXiv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(с 1991 года);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Документы создаются в PDF;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Автоматизация — генерация отчётов из данных;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Доступность — упрощённые интерфейсы для новичков (Authorea);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Существует множество </a:t>
            </a:r>
            <a:r>
              <a:rPr b="0" i="0" lang="en-US" sz="2000" u="none" cap="none" strike="noStrike">
                <a:solidFill>
                  <a:srgbClr val="ED7D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расширений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(ноты, шахматные доски,…);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Широкое </a:t>
            </a:r>
            <a:r>
              <a:rPr b="0" i="0" lang="en-US" sz="2000" u="none" cap="none" strike="noStrike">
                <a:solidFill>
                  <a:srgbClr val="ED7D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сообщество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пользователей.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"/>
          <p:cNvSpPr txBox="1"/>
          <p:nvPr/>
        </p:nvSpPr>
        <p:spPr>
          <a:xfrm>
            <a:off x="0" y="417512"/>
            <a:ext cx="2743200" cy="574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</a:pPr>
            <a:fld id="{00000000-1234-1234-1234-123412341234}" type="slidenum">
              <a:rPr b="0" i="0" lang="en-US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5"/>
          <p:cNvSpPr txBox="1"/>
          <p:nvPr/>
        </p:nvSpPr>
        <p:spPr>
          <a:xfrm>
            <a:off x="1895800" y="686232"/>
            <a:ext cx="776910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ПРЕИМУЩЕСТВА LaTeX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5"/>
          <p:cNvSpPr txBox="1"/>
          <p:nvPr/>
        </p:nvSpPr>
        <p:spPr>
          <a:xfrm>
            <a:off x="603849" y="1877383"/>
            <a:ext cx="10818963" cy="4333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 WYSIWYG (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hat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ee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hat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et). Автор думает лишь о структуре и содержании документа. Исходный текст мало похож на конечный результат.</a:t>
            </a:r>
            <a:endParaRPr/>
          </a:p>
          <a:p>
            <a:pPr indent="-152400" lvl="0" marL="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Готовые макеты.</a:t>
            </a:r>
            <a:endParaRPr/>
          </a:p>
          <a:p>
            <a:pPr indent="-152400" lvl="0" marL="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Лаконичный набор простых команд, задающих логическую структуру документа.</a:t>
            </a:r>
            <a:endParaRPr/>
          </a:p>
          <a:p>
            <a:pPr indent="-152400" lvl="0" marL="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Легко создавать сложные структуры (оглавления, библиографии).</a:t>
            </a:r>
            <a:endParaRPr/>
          </a:p>
          <a:p>
            <a:pPr indent="-152400" lvl="0" marL="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Множество расширений.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"/>
          <p:cNvSpPr txBox="1"/>
          <p:nvPr/>
        </p:nvSpPr>
        <p:spPr>
          <a:xfrm>
            <a:off x="0" y="417512"/>
            <a:ext cx="2743200" cy="574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</a:pPr>
            <a:fld id="{00000000-1234-1234-1234-123412341234}" type="slidenum">
              <a:rPr b="0" i="0" lang="en-US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6"/>
          <p:cNvSpPr txBox="1"/>
          <p:nvPr/>
        </p:nvSpPr>
        <p:spPr>
          <a:xfrm>
            <a:off x="1895800" y="755244"/>
            <a:ext cx="776910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НЕДОСТАТКИ LaTeX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6"/>
          <p:cNvSpPr txBox="1"/>
          <p:nvPr/>
        </p:nvSpPr>
        <p:spPr>
          <a:xfrm>
            <a:off x="544899" y="1825625"/>
            <a:ext cx="11353800" cy="21597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70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 WYSIWYG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Автор думает лишь о структуре и содержании документа. Исходный текст мало похож на конечный результат. Сложно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внести изменения в форматирование документа.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Создавать новые макеты сложно и времязатратно.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1" name="Google Shape;19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483" y="3367287"/>
            <a:ext cx="4932872" cy="3032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3849" y="3312544"/>
            <a:ext cx="4340095" cy="29184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background" id="193" name="Google Shape;19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5348376" y="3524957"/>
            <a:ext cx="2087593" cy="15728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4" name="Google Shape;194;p16"/>
          <p:cNvCxnSpPr/>
          <p:nvPr/>
        </p:nvCxnSpPr>
        <p:spPr>
          <a:xfrm>
            <a:off x="5434642" y="5210352"/>
            <a:ext cx="2087592" cy="17253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"/>
          <p:cNvSpPr txBox="1"/>
          <p:nvPr/>
        </p:nvSpPr>
        <p:spPr>
          <a:xfrm>
            <a:off x="0" y="417512"/>
            <a:ext cx="2743200" cy="574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</a:pPr>
            <a:fld id="{00000000-1234-1234-1234-123412341234}" type="slidenum">
              <a:rPr b="0" i="0" lang="en-US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7"/>
          <p:cNvSpPr txBox="1"/>
          <p:nvPr/>
        </p:nvSpPr>
        <p:spPr>
          <a:xfrm>
            <a:off x="1895800" y="651726"/>
            <a:ext cx="776910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ПРИНЦИП РАБОТЫ LaTeX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3971109" y="1690688"/>
            <a:ext cx="3335381" cy="83602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Исходный код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(Vim, Sublime, TeXStudio, …)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7"/>
          <p:cNvSpPr/>
          <p:nvPr/>
        </p:nvSpPr>
        <p:spPr>
          <a:xfrm>
            <a:off x="3971110" y="2697662"/>
            <a:ext cx="3335381" cy="83602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Компиляция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(TeXLive, MikTeX)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7"/>
          <p:cNvSpPr/>
          <p:nvPr/>
        </p:nvSpPr>
        <p:spPr>
          <a:xfrm>
            <a:off x="3971110" y="5201376"/>
            <a:ext cx="3335381" cy="83602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PDF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(Acrobat Reader, Evince, zathura)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6072051" y="3949519"/>
            <a:ext cx="1933303" cy="836023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Ошибки</a:t>
            </a:r>
            <a:endParaRPr/>
          </a:p>
        </p:txBody>
      </p:sp>
      <p:sp>
        <p:nvSpPr>
          <p:cNvPr id="205" name="Google Shape;205;p17"/>
          <p:cNvSpPr/>
          <p:nvPr/>
        </p:nvSpPr>
        <p:spPr>
          <a:xfrm>
            <a:off x="5242560" y="3704636"/>
            <a:ext cx="548640" cy="135717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" name="Google Shape;206;p17"/>
          <p:cNvCxnSpPr/>
          <p:nvPr/>
        </p:nvCxnSpPr>
        <p:spPr>
          <a:xfrm flipH="1" rot="5400000">
            <a:off x="6680936" y="2858577"/>
            <a:ext cx="2235300" cy="731400"/>
          </a:xfrm>
          <a:prstGeom prst="bentConnector3">
            <a:avLst>
              <a:gd fmla="val 100260" name="adj1"/>
            </a:avLst>
          </a:prstGeom>
          <a:noFill/>
          <a:ln cap="flat" cmpd="sng" w="38100">
            <a:solidFill>
              <a:srgbClr val="EB792A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 txBox="1"/>
          <p:nvPr/>
        </p:nvSpPr>
        <p:spPr>
          <a:xfrm>
            <a:off x="609900" y="2056596"/>
            <a:ext cx="652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3C"/>
              </a:buClr>
              <a:buSzPts val="2800"/>
              <a:buFont typeface="Rubik"/>
              <a:buNone/>
            </a:pPr>
            <a:r>
              <a:rPr b="1" i="0" lang="en-US" sz="20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Рекомендованная литература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8"/>
          <p:cNvSpPr txBox="1"/>
          <p:nvPr/>
        </p:nvSpPr>
        <p:spPr>
          <a:xfrm>
            <a:off x="609900" y="4370801"/>
            <a:ext cx="652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3C"/>
              </a:buClr>
              <a:buSzPts val="2800"/>
              <a:buFont typeface="Rubik"/>
              <a:buNone/>
            </a:pPr>
            <a:r>
              <a:rPr b="1" i="0" lang="en-US" sz="20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Нерекомендованная литература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1780725" y="4891976"/>
            <a:ext cx="197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https://clck.ru/3RXtwM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8"/>
          <p:cNvSpPr txBox="1"/>
          <p:nvPr/>
        </p:nvSpPr>
        <p:spPr>
          <a:xfrm>
            <a:off x="665900" y="4891976"/>
            <a:ext cx="129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Мини - курс: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7650" y="4891976"/>
            <a:ext cx="1849174" cy="140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40100" y="5292177"/>
            <a:ext cx="1119650" cy="10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8"/>
          <p:cNvSpPr txBox="1"/>
          <p:nvPr/>
        </p:nvSpPr>
        <p:spPr>
          <a:xfrm>
            <a:off x="713475" y="2456796"/>
            <a:ext cx="601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Львовский С. М. - Набор и вёрстка в системе LaTeX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3625" y="1292668"/>
            <a:ext cx="1119650" cy="1574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06350" y="1138096"/>
            <a:ext cx="1728799" cy="172879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8"/>
          <p:cNvSpPr txBox="1"/>
          <p:nvPr/>
        </p:nvSpPr>
        <p:spPr>
          <a:xfrm>
            <a:off x="7041219" y="2661896"/>
            <a:ext cx="208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http://bit.ly/1P9Cfjk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713475" y="3017617"/>
            <a:ext cx="473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Документация пакетов: http://tex.stackexchange.com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25550" y="4199112"/>
            <a:ext cx="2743200" cy="2254684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8"/>
          <p:cNvSpPr txBox="1"/>
          <p:nvPr/>
        </p:nvSpPr>
        <p:spPr>
          <a:xfrm>
            <a:off x="2089150" y="557200"/>
            <a:ext cx="253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3C"/>
              </a:buClr>
              <a:buSzPts val="2800"/>
              <a:buFont typeface="Rubik"/>
              <a:buNone/>
            </a:pPr>
            <a:r>
              <a:rPr b="1" i="0" lang="en-US" sz="28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Литература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0" y="417512"/>
            <a:ext cx="27432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</a:pPr>
            <a:fld id="{00000000-1234-1234-1234-123412341234}" type="slidenum">
              <a:rPr b="0" i="0" lang="en-US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 txBox="1"/>
          <p:nvPr/>
        </p:nvSpPr>
        <p:spPr>
          <a:xfrm>
            <a:off x="0" y="417512"/>
            <a:ext cx="2743200" cy="574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</a:pPr>
            <a:fld id="{00000000-1234-1234-1234-123412341234}" type="slidenum">
              <a:rPr b="0" i="0" lang="en-US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1895800" y="720738"/>
            <a:ext cx="776910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33C"/>
              </a:buClr>
              <a:buSzPts val="2800"/>
              <a:buFont typeface="Rubik"/>
              <a:buNone/>
            </a:pPr>
            <a:r>
              <a:rPr b="1" i="0" lang="en-US" sz="28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РАБОТА В TeXStudio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4573" y="2037023"/>
            <a:ext cx="8387680" cy="440353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9"/>
          <p:cNvSpPr txBox="1"/>
          <p:nvPr/>
        </p:nvSpPr>
        <p:spPr>
          <a:xfrm>
            <a:off x="914379" y="1681637"/>
            <a:ext cx="1570406" cy="6155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Создание нового документа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19"/>
          <p:cNvSpPr txBox="1"/>
          <p:nvPr/>
        </p:nvSpPr>
        <p:spPr>
          <a:xfrm>
            <a:off x="768605" y="2897524"/>
            <a:ext cx="1570406" cy="4000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Открытые файлы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19"/>
          <p:cNvSpPr txBox="1"/>
          <p:nvPr/>
        </p:nvSpPr>
        <p:spPr>
          <a:xfrm>
            <a:off x="357809" y="5723550"/>
            <a:ext cx="1994454" cy="6155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 компиляции / ошибки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19"/>
          <p:cNvSpPr txBox="1"/>
          <p:nvPr/>
        </p:nvSpPr>
        <p:spPr>
          <a:xfrm>
            <a:off x="811674" y="4123350"/>
            <a:ext cx="1570406" cy="4000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Код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19"/>
          <p:cNvSpPr txBox="1"/>
          <p:nvPr/>
        </p:nvSpPr>
        <p:spPr>
          <a:xfrm>
            <a:off x="8511209" y="1443098"/>
            <a:ext cx="1994454" cy="6155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Внешний вид документа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19"/>
          <p:cNvSpPr txBox="1"/>
          <p:nvPr/>
        </p:nvSpPr>
        <p:spPr>
          <a:xfrm>
            <a:off x="3978966" y="1502733"/>
            <a:ext cx="1378226" cy="4000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Запуск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5334002" y="1366898"/>
            <a:ext cx="1378226" cy="6155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Просмотр документа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40" name="Google Shape;240;p19"/>
          <p:cNvCxnSpPr/>
          <p:nvPr/>
        </p:nvCxnSpPr>
        <p:spPr>
          <a:xfrm flipH="1" rot="10800000">
            <a:off x="1944631" y="3776870"/>
            <a:ext cx="2647247" cy="595540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41" name="Google Shape;241;p19"/>
          <p:cNvCxnSpPr/>
          <p:nvPr/>
        </p:nvCxnSpPr>
        <p:spPr>
          <a:xfrm flipH="1" rot="10800000">
            <a:off x="2232865" y="5834270"/>
            <a:ext cx="1881935" cy="327184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42" name="Google Shape;242;p19"/>
          <p:cNvCxnSpPr/>
          <p:nvPr/>
        </p:nvCxnSpPr>
        <p:spPr>
          <a:xfrm flipH="1" rot="10800000">
            <a:off x="2272622" y="2882348"/>
            <a:ext cx="719056" cy="227793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43" name="Google Shape;243;p19"/>
          <p:cNvCxnSpPr/>
          <p:nvPr/>
        </p:nvCxnSpPr>
        <p:spPr>
          <a:xfrm>
            <a:off x="2212988" y="2016836"/>
            <a:ext cx="550090" cy="408312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44" name="Google Shape;244;p19"/>
          <p:cNvCxnSpPr/>
          <p:nvPr/>
        </p:nvCxnSpPr>
        <p:spPr>
          <a:xfrm>
            <a:off x="4677892" y="1847871"/>
            <a:ext cx="301612" cy="567338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45" name="Google Shape;245;p19"/>
          <p:cNvCxnSpPr/>
          <p:nvPr/>
        </p:nvCxnSpPr>
        <p:spPr>
          <a:xfrm flipH="1">
            <a:off x="5476461" y="1902908"/>
            <a:ext cx="447263" cy="532179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46" name="Google Shape;246;p19"/>
          <p:cNvCxnSpPr/>
          <p:nvPr/>
        </p:nvCxnSpPr>
        <p:spPr>
          <a:xfrm flipH="1">
            <a:off x="9462052" y="1958009"/>
            <a:ext cx="188844" cy="914400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"/>
          <p:cNvSpPr txBox="1"/>
          <p:nvPr/>
        </p:nvSpPr>
        <p:spPr>
          <a:xfrm>
            <a:off x="0" y="417512"/>
            <a:ext cx="2743200" cy="574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</a:pPr>
            <a:fld id="{00000000-1234-1234-1234-123412341234}" type="slidenum">
              <a:rPr b="0" i="0" lang="en-US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1895800" y="582714"/>
            <a:ext cx="776910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ПРИМЕР ПРОСТОГО ДОКУМЕНТА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3" name="Google Shape;253;p20"/>
          <p:cNvCxnSpPr/>
          <p:nvPr/>
        </p:nvCxnSpPr>
        <p:spPr>
          <a:xfrm>
            <a:off x="6277155" y="3758241"/>
            <a:ext cx="1538377" cy="2876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id="254" name="Google Shape;25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638" y="1889264"/>
            <a:ext cx="5599552" cy="4302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90133" y="1561409"/>
            <a:ext cx="2711450" cy="43116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1"/>
          <p:cNvSpPr txBox="1"/>
          <p:nvPr/>
        </p:nvSpPr>
        <p:spPr>
          <a:xfrm>
            <a:off x="0" y="417512"/>
            <a:ext cx="2743200" cy="574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</a:pPr>
            <a:fld id="{00000000-1234-1234-1234-123412341234}" type="slidenum">
              <a:rPr b="0" i="0" lang="en-US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1913052" y="807001"/>
            <a:ext cx="776910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ПРИМЕР ПРОСТОГО ДОКУМЕНТА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714" y="2081845"/>
            <a:ext cx="1062228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2"/>
          <p:cNvSpPr txBox="1"/>
          <p:nvPr/>
        </p:nvSpPr>
        <p:spPr>
          <a:xfrm>
            <a:off x="0" y="417512"/>
            <a:ext cx="2743200" cy="574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</a:pPr>
            <a:fld id="{00000000-1234-1234-1234-123412341234}" type="slidenum">
              <a:rPr b="0" i="0" lang="en-US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1895800" y="358425"/>
            <a:ext cx="776910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КЛАССЫ ДОКУМЕНТОВ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2"/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ED7D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article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используется для статей в научных журналах, презентаций, коротких отчетов, программной документации, приглашений…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ED7D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используется для длинных отчетов, содержащих  несколько глав, небольших книжек, диссертаций…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ED7D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book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используется для книг.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ED7D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 др.</a:t>
            </a:r>
            <a:endParaRPr b="0" i="0" sz="2800" u="none" cap="none" strike="noStrike">
              <a:solidFill>
                <a:srgbClr val="ED7D3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3"/>
          <p:cNvSpPr txBox="1"/>
          <p:nvPr/>
        </p:nvSpPr>
        <p:spPr>
          <a:xfrm>
            <a:off x="0" y="417512"/>
            <a:ext cx="2743200" cy="574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</a:pPr>
            <a:fld id="{00000000-1234-1234-1234-123412341234}" type="slidenum">
              <a:rPr b="0" i="0" lang="en-US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3"/>
          <p:cNvSpPr txBox="1"/>
          <p:nvPr/>
        </p:nvSpPr>
        <p:spPr>
          <a:xfrm>
            <a:off x="1895800" y="651726"/>
            <a:ext cx="776910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ОПЦИИ КЛАССОВ ДОКУМЕНТА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3"/>
          <p:cNvSpPr txBox="1"/>
          <p:nvPr/>
        </p:nvSpPr>
        <p:spPr>
          <a:xfrm>
            <a:off x="838200" y="2067167"/>
            <a:ext cx="10515600" cy="36780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ED7D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a4paper, letterpaper,...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определяет размер листа.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ED7D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titlepage, notitlepage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указывает, должна ли начинается новая страница после заголовка документа или нет.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ED7D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onecolumn, twocolumn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позволяет создавать документы с одним или двумя столбцами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4"/>
          <p:cNvSpPr txBox="1"/>
          <p:nvPr/>
        </p:nvSpPr>
        <p:spPr>
          <a:xfrm>
            <a:off x="0" y="417512"/>
            <a:ext cx="2743200" cy="574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</a:pPr>
            <a:fld id="{00000000-1234-1234-1234-123412341234}" type="slidenum">
              <a:rPr b="0" i="0" lang="en-US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4"/>
          <p:cNvSpPr txBox="1"/>
          <p:nvPr/>
        </p:nvSpPr>
        <p:spPr>
          <a:xfrm>
            <a:off x="1895800" y="651726"/>
            <a:ext cx="776910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ОПЦИИ КЛАССОВ ДОКУМЕНТА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346" y="2324928"/>
            <a:ext cx="9712369" cy="1784696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4"/>
          <p:cNvSpPr txBox="1"/>
          <p:nvPr/>
        </p:nvSpPr>
        <p:spPr>
          <a:xfrm>
            <a:off x="2851828" y="4340355"/>
            <a:ext cx="1570406" cy="4308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Левое поле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p24"/>
          <p:cNvSpPr txBox="1"/>
          <p:nvPr/>
        </p:nvSpPr>
        <p:spPr>
          <a:xfrm>
            <a:off x="4898640" y="4340355"/>
            <a:ext cx="1570406" cy="4308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Правое поле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24"/>
          <p:cNvSpPr txBox="1"/>
          <p:nvPr/>
        </p:nvSpPr>
        <p:spPr>
          <a:xfrm>
            <a:off x="8604643" y="4340355"/>
            <a:ext cx="1570406" cy="4308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Нижнее поле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24"/>
          <p:cNvSpPr txBox="1"/>
          <p:nvPr/>
        </p:nvSpPr>
        <p:spPr>
          <a:xfrm>
            <a:off x="6766550" y="4340355"/>
            <a:ext cx="1570406" cy="4308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Верхнее поле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88" name="Google Shape;288;p24"/>
          <p:cNvCxnSpPr/>
          <p:nvPr/>
        </p:nvCxnSpPr>
        <p:spPr>
          <a:xfrm rot="10800000">
            <a:off x="3369366" y="3846443"/>
            <a:ext cx="235101" cy="595540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89" name="Google Shape;289;p24"/>
          <p:cNvCxnSpPr/>
          <p:nvPr/>
        </p:nvCxnSpPr>
        <p:spPr>
          <a:xfrm rot="10800000">
            <a:off x="5287618" y="3906078"/>
            <a:ext cx="235101" cy="595540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90" name="Google Shape;290;p24"/>
          <p:cNvCxnSpPr/>
          <p:nvPr/>
        </p:nvCxnSpPr>
        <p:spPr>
          <a:xfrm rot="10800000">
            <a:off x="6967331" y="3836504"/>
            <a:ext cx="235101" cy="595540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91" name="Google Shape;291;p24"/>
          <p:cNvCxnSpPr/>
          <p:nvPr/>
        </p:nvCxnSpPr>
        <p:spPr>
          <a:xfrm rot="10800000">
            <a:off x="8597349" y="3856382"/>
            <a:ext cx="235101" cy="595540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5"/>
          <p:cNvSpPr txBox="1"/>
          <p:nvPr/>
        </p:nvSpPr>
        <p:spPr>
          <a:xfrm>
            <a:off x="0" y="417512"/>
            <a:ext cx="2743200" cy="574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</a:pPr>
            <a:fld id="{00000000-1234-1234-1234-123412341234}" type="slidenum">
              <a:rPr b="0" i="0" lang="en-US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5"/>
          <p:cNvSpPr txBox="1"/>
          <p:nvPr/>
        </p:nvSpPr>
        <p:spPr>
          <a:xfrm>
            <a:off x="1895800" y="651726"/>
            <a:ext cx="776910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ОПЦИИ КЛАССОВ ДОКУМЕНТА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5"/>
          <p:cNvSpPr txBox="1"/>
          <p:nvPr/>
        </p:nvSpPr>
        <p:spPr>
          <a:xfrm>
            <a:off x="838200" y="1825625"/>
            <a:ext cx="10515600" cy="1297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ED7D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landscape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меняет положение страницы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ED7D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 др.</a:t>
            </a:r>
            <a:endParaRPr b="0" i="0" sz="2800" u="none" cap="none" strike="noStrike">
              <a:solidFill>
                <a:srgbClr val="ED7D3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9" name="Google Shape;29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777" y="3062317"/>
            <a:ext cx="3683000" cy="3086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300" name="Google Shape;30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9572" y="4264265"/>
            <a:ext cx="20447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40742" y="2703841"/>
            <a:ext cx="3549650" cy="3492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cxnSp>
        <p:nvCxnSpPr>
          <p:cNvPr id="302" name="Google Shape;302;p25"/>
          <p:cNvCxnSpPr/>
          <p:nvPr/>
        </p:nvCxnSpPr>
        <p:spPr>
          <a:xfrm>
            <a:off x="4071668" y="4554747"/>
            <a:ext cx="862641" cy="18753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03" name="Google Shape;303;p25"/>
          <p:cNvCxnSpPr/>
          <p:nvPr/>
        </p:nvCxnSpPr>
        <p:spPr>
          <a:xfrm>
            <a:off x="7191555" y="4569124"/>
            <a:ext cx="862641" cy="18753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6"/>
          <p:cNvSpPr txBox="1"/>
          <p:nvPr/>
        </p:nvSpPr>
        <p:spPr>
          <a:xfrm>
            <a:off x="0" y="417512"/>
            <a:ext cx="2743200" cy="574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</a:pPr>
            <a:fld id="{00000000-1234-1234-1234-123412341234}" type="slidenum">
              <a:rPr b="0" i="0" lang="en-US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6"/>
          <p:cNvSpPr txBox="1"/>
          <p:nvPr/>
        </p:nvSpPr>
        <p:spPr>
          <a:xfrm>
            <a:off x="2033823" y="392931"/>
            <a:ext cx="776910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ОСНОВНЫЕ ПОНЯТИЯ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0" name="Google Shape;31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65906" y="1912983"/>
            <a:ext cx="5591175" cy="40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7"/>
          <p:cNvSpPr txBox="1"/>
          <p:nvPr/>
        </p:nvSpPr>
        <p:spPr>
          <a:xfrm>
            <a:off x="0" y="417512"/>
            <a:ext cx="2743200" cy="574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</a:pPr>
            <a:fld id="{00000000-1234-1234-1234-123412341234}" type="slidenum">
              <a:rPr b="0" i="0" lang="en-US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7"/>
          <p:cNvSpPr txBox="1"/>
          <p:nvPr/>
        </p:nvSpPr>
        <p:spPr>
          <a:xfrm>
            <a:off x="2033823" y="392931"/>
            <a:ext cx="776910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ОСНОВНЫЕ ПОНЯТИЯ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7" name="Google Shape;31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839" y="3124199"/>
            <a:ext cx="4096112" cy="1534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90315" y="3251200"/>
            <a:ext cx="4541024" cy="88947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cxnSp>
        <p:nvCxnSpPr>
          <p:cNvPr id="319" name="Google Shape;319;p27"/>
          <p:cNvCxnSpPr/>
          <p:nvPr/>
        </p:nvCxnSpPr>
        <p:spPr>
          <a:xfrm>
            <a:off x="5587040" y="3740988"/>
            <a:ext cx="862641" cy="18753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8"/>
          <p:cNvSpPr txBox="1"/>
          <p:nvPr/>
        </p:nvSpPr>
        <p:spPr>
          <a:xfrm>
            <a:off x="0" y="417512"/>
            <a:ext cx="2743200" cy="574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</a:pPr>
            <a:fld id="{00000000-1234-1234-1234-123412341234}" type="slidenum">
              <a:rPr b="0" i="0" lang="en-US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8"/>
          <p:cNvSpPr txBox="1"/>
          <p:nvPr/>
        </p:nvSpPr>
        <p:spPr>
          <a:xfrm>
            <a:off x="2033823" y="392931"/>
            <a:ext cx="776910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ОСНОВНЫЕ ПОНЯТИЯ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8"/>
          <p:cNvSpPr txBox="1"/>
          <p:nvPr/>
        </p:nvSpPr>
        <p:spPr>
          <a:xfrm>
            <a:off x="480192" y="2714897"/>
            <a:ext cx="6075883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B C D ... Z a b c d ... z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 Б В Г ... Я а б в г ... я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1 2 3 4 5 6 7 8 9 , . ; : @ |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 ! ( ) [ ] &lt; &gt; - + * = / ‘ ’ " </a:t>
            </a:r>
            <a:endParaRPr/>
          </a:p>
        </p:txBody>
      </p:sp>
      <p:sp>
        <p:nvSpPr>
          <p:cNvPr id="327" name="Google Shape;327;p28"/>
          <p:cNvSpPr txBox="1"/>
          <p:nvPr/>
        </p:nvSpPr>
        <p:spPr>
          <a:xfrm>
            <a:off x="424131" y="1872390"/>
            <a:ext cx="7236125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Символы, отображаемые один в один: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8" name="Google Shape;32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45176" y="2371725"/>
            <a:ext cx="3336136" cy="64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56532" y="4185607"/>
            <a:ext cx="3564825" cy="143881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cxnSp>
        <p:nvCxnSpPr>
          <p:cNvPr id="330" name="Google Shape;330;p28"/>
          <p:cNvCxnSpPr/>
          <p:nvPr/>
        </p:nvCxnSpPr>
        <p:spPr>
          <a:xfrm>
            <a:off x="9693216" y="3188898"/>
            <a:ext cx="2875" cy="796506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9"/>
          <p:cNvSpPr txBox="1"/>
          <p:nvPr/>
        </p:nvSpPr>
        <p:spPr>
          <a:xfrm>
            <a:off x="0" y="417512"/>
            <a:ext cx="2743200" cy="574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</a:pPr>
            <a:fld id="{00000000-1234-1234-1234-123412341234}" type="slidenum">
              <a:rPr b="0" i="0" lang="en-US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9"/>
          <p:cNvSpPr txBox="1"/>
          <p:nvPr/>
        </p:nvSpPr>
        <p:spPr>
          <a:xfrm>
            <a:off x="2033823" y="392931"/>
            <a:ext cx="776910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ОСНОВНЫЕ ПОНЯТИЯ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9"/>
          <p:cNvSpPr txBox="1"/>
          <p:nvPr/>
        </p:nvSpPr>
        <p:spPr>
          <a:xfrm>
            <a:off x="8240719" y="1759787"/>
            <a:ext cx="227658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} $ &amp; # % _ </a:t>
            </a:r>
            <a:endParaRPr/>
          </a:p>
        </p:txBody>
      </p:sp>
      <p:sp>
        <p:nvSpPr>
          <p:cNvPr id="338" name="Google Shape;338;p29"/>
          <p:cNvSpPr txBox="1"/>
          <p:nvPr/>
        </p:nvSpPr>
        <p:spPr>
          <a:xfrm>
            <a:off x="838200" y="1751618"/>
            <a:ext cx="737477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Символы, которые необходимо экранировать: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9" name="Google Shape;33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948" y="2750031"/>
            <a:ext cx="3148177" cy="1062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50713" y="2875653"/>
            <a:ext cx="4270131" cy="6784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cxnSp>
        <p:nvCxnSpPr>
          <p:cNvPr id="341" name="Google Shape;341;p29"/>
          <p:cNvCxnSpPr/>
          <p:nvPr/>
        </p:nvCxnSpPr>
        <p:spPr>
          <a:xfrm flipH="1" rot="10800000">
            <a:off x="4068793" y="3157271"/>
            <a:ext cx="951780" cy="14377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42" name="Google Shape;342;p29"/>
          <p:cNvSpPr/>
          <p:nvPr/>
        </p:nvSpPr>
        <p:spPr>
          <a:xfrm>
            <a:off x="10179170" y="2553423"/>
            <a:ext cx="879894" cy="122495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25400">
            <a:solidFill>
              <a:srgbClr val="AC5B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3" name="Google Shape;34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6711" y="4687201"/>
            <a:ext cx="4531675" cy="574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42214" y="4627714"/>
            <a:ext cx="4134879" cy="58264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45" name="Google Shape;345;p29"/>
          <p:cNvSpPr/>
          <p:nvPr/>
        </p:nvSpPr>
        <p:spPr>
          <a:xfrm flipH="1" rot="1714273">
            <a:off x="10208881" y="4277402"/>
            <a:ext cx="785467" cy="903538"/>
          </a:xfrm>
          <a:prstGeom prst="corner">
            <a:avLst>
              <a:gd fmla="val 24358" name="adj1"/>
              <a:gd fmla="val 22749" name="adj2"/>
            </a:avLst>
          </a:prstGeom>
          <a:solidFill>
            <a:schemeClr val="accent6"/>
          </a:solidFill>
          <a:ln cap="flat" cmpd="sng" w="25400">
            <a:solidFill>
              <a:srgbClr val="51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29"/>
          <p:cNvCxnSpPr/>
          <p:nvPr/>
        </p:nvCxnSpPr>
        <p:spPr>
          <a:xfrm flipH="1" rot="10800000">
            <a:off x="4894053" y="4919035"/>
            <a:ext cx="679149" cy="9527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0"/>
          <p:cNvSpPr txBox="1"/>
          <p:nvPr/>
        </p:nvSpPr>
        <p:spPr>
          <a:xfrm>
            <a:off x="0" y="417512"/>
            <a:ext cx="2743200" cy="574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</a:pPr>
            <a:fld id="{00000000-1234-1234-1234-123412341234}" type="slidenum">
              <a:rPr b="0" i="0" lang="en-US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1947559" y="806999"/>
            <a:ext cx="776910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ОСНОВНЫЕ ПОНЯТИЯ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275222" y="1786124"/>
            <a:ext cx="1083559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Символы, которые нельзя обычным способом отобразить в тексте: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4" name="Google Shape;354;p30"/>
          <p:cNvSpPr txBox="1"/>
          <p:nvPr/>
        </p:nvSpPr>
        <p:spPr>
          <a:xfrm>
            <a:off x="10705366" y="1672896"/>
            <a:ext cx="105189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^ \ ~</a:t>
            </a:r>
            <a:endParaRPr b="1" i="0" sz="5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55" name="Google Shape;355;p30"/>
          <p:cNvGrpSpPr/>
          <p:nvPr/>
        </p:nvGrpSpPr>
        <p:grpSpPr>
          <a:xfrm>
            <a:off x="3060385" y="2410814"/>
            <a:ext cx="6071230" cy="2036373"/>
            <a:chOff x="712339" y="2518374"/>
            <a:chExt cx="6071230" cy="2036373"/>
          </a:xfrm>
        </p:grpSpPr>
        <p:pic>
          <p:nvPicPr>
            <p:cNvPr id="356" name="Google Shape;356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2339" y="2534548"/>
              <a:ext cx="2503366" cy="18304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7" name="Google Shape;357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29786" y="2518374"/>
              <a:ext cx="653783" cy="203637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58" name="Google Shape;358;p30"/>
            <p:cNvCxnSpPr/>
            <p:nvPr/>
          </p:nvCxnSpPr>
          <p:spPr>
            <a:xfrm flipH="1" rot="10800000">
              <a:off x="3433313" y="3347049"/>
              <a:ext cx="2518913" cy="86264"/>
            </a:xfrm>
            <a:prstGeom prst="straightConnector1">
              <a:avLst/>
            </a:prstGeom>
            <a:noFill/>
            <a:ln cap="flat" cmpd="sng" w="25400">
              <a:solidFill>
                <a:schemeClr val="accent6"/>
              </a:solidFill>
              <a:prstDash val="solid"/>
              <a:round/>
              <a:headEnd len="sm" w="sm" type="none"/>
              <a:tailEnd len="med" w="med" type="stealth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  <p:cxnSp>
          <p:nvCxnSpPr>
            <p:cNvPr id="359" name="Google Shape;359;p30"/>
            <p:cNvCxnSpPr/>
            <p:nvPr/>
          </p:nvCxnSpPr>
          <p:spPr>
            <a:xfrm flipH="1" rot="10800000">
              <a:off x="3485072" y="4123426"/>
              <a:ext cx="2294626" cy="17254"/>
            </a:xfrm>
            <a:prstGeom prst="straightConnector1">
              <a:avLst/>
            </a:prstGeom>
            <a:noFill/>
            <a:ln cap="flat" cmpd="sng" w="25400">
              <a:solidFill>
                <a:schemeClr val="accent6"/>
              </a:solidFill>
              <a:prstDash val="solid"/>
              <a:round/>
              <a:headEnd len="sm" w="sm" type="none"/>
              <a:tailEnd len="med" w="med" type="stealth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  <p:cxnSp>
          <p:nvCxnSpPr>
            <p:cNvPr id="360" name="Google Shape;360;p30"/>
            <p:cNvCxnSpPr/>
            <p:nvPr/>
          </p:nvCxnSpPr>
          <p:spPr>
            <a:xfrm flipH="1" rot="10800000">
              <a:off x="3467819" y="2674189"/>
              <a:ext cx="2484407" cy="138022"/>
            </a:xfrm>
            <a:prstGeom prst="straightConnector1">
              <a:avLst/>
            </a:prstGeom>
            <a:noFill/>
            <a:ln cap="flat" cmpd="sng" w="25400">
              <a:solidFill>
                <a:schemeClr val="accent6"/>
              </a:solidFill>
              <a:prstDash val="solid"/>
              <a:round/>
              <a:headEnd len="sm" w="sm" type="none"/>
              <a:tailEnd len="med" w="med" type="stealth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</p:grpSp>
      <p:pic>
        <p:nvPicPr>
          <p:cNvPr id="361" name="Google Shape;361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208" y="5469148"/>
            <a:ext cx="4446047" cy="774999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0"/>
          <p:cNvSpPr txBox="1"/>
          <p:nvPr/>
        </p:nvSpPr>
        <p:spPr>
          <a:xfrm>
            <a:off x="540574" y="4758278"/>
            <a:ext cx="199605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Пример:</a:t>
            </a:r>
            <a:endParaRPr b="1" i="0" sz="5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3" name="Google Shape;363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58966" y="5546365"/>
            <a:ext cx="2952750" cy="533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4" name="Google Shape;364;p30"/>
          <p:cNvCxnSpPr/>
          <p:nvPr/>
        </p:nvCxnSpPr>
        <p:spPr>
          <a:xfrm flipH="1" rot="10800000">
            <a:off x="5725064" y="5762449"/>
            <a:ext cx="951780" cy="14377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1"/>
          <p:cNvSpPr txBox="1"/>
          <p:nvPr/>
        </p:nvSpPr>
        <p:spPr>
          <a:xfrm>
            <a:off x="0" y="417512"/>
            <a:ext cx="2743200" cy="574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</a:pPr>
            <a:fld id="{00000000-1234-1234-1234-123412341234}" type="slidenum">
              <a:rPr b="0" i="0" lang="en-US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1"/>
          <p:cNvSpPr txBox="1"/>
          <p:nvPr/>
        </p:nvSpPr>
        <p:spPr>
          <a:xfrm>
            <a:off x="1947559" y="806999"/>
            <a:ext cx="776910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ОСНОВНЫЕ ПОНЯТИЯ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1"/>
          <p:cNvSpPr txBox="1"/>
          <p:nvPr/>
        </p:nvSpPr>
        <p:spPr>
          <a:xfrm>
            <a:off x="827314" y="1751618"/>
            <a:ext cx="983070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Комментарии заключаются между знаком % и концом строки: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2" name="Google Shape;37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739" y="2862351"/>
            <a:ext cx="4403710" cy="2209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4717" y="3569179"/>
            <a:ext cx="4878240" cy="81304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cxnSp>
        <p:nvCxnSpPr>
          <p:cNvPr id="374" name="Google Shape;374;p31"/>
          <p:cNvCxnSpPr/>
          <p:nvPr/>
        </p:nvCxnSpPr>
        <p:spPr>
          <a:xfrm flipH="1" rot="10800000">
            <a:off x="5552535" y="3968155"/>
            <a:ext cx="951780" cy="14377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"/>
          <p:cNvSpPr txBox="1"/>
          <p:nvPr/>
        </p:nvSpPr>
        <p:spPr>
          <a:xfrm>
            <a:off x="0" y="417512"/>
            <a:ext cx="2743200" cy="574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</a:pPr>
            <a:fld id="{00000000-1234-1234-1234-123412341234}" type="slidenum">
              <a:rPr b="0" i="0" lang="en-US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2"/>
          <p:cNvSpPr txBox="1"/>
          <p:nvPr/>
        </p:nvSpPr>
        <p:spPr>
          <a:xfrm>
            <a:off x="1947559" y="806999"/>
            <a:ext cx="776910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ОСНОВНЫЕ ПОНЯТИЯ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590" y="2776362"/>
            <a:ext cx="4684225" cy="1936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43892" y="3009727"/>
            <a:ext cx="4901781" cy="132073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383" name="Google Shape;383;p32"/>
          <p:cNvCxnSpPr/>
          <p:nvPr/>
        </p:nvCxnSpPr>
        <p:spPr>
          <a:xfrm flipH="1" rot="10800000">
            <a:off x="5552535" y="3692110"/>
            <a:ext cx="951780" cy="14377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3"/>
          <p:cNvSpPr txBox="1"/>
          <p:nvPr/>
        </p:nvSpPr>
        <p:spPr>
          <a:xfrm>
            <a:off x="0" y="417512"/>
            <a:ext cx="2743200" cy="574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ebas Neue"/>
              <a:buNone/>
            </a:pPr>
            <a:fld id="{00000000-1234-1234-1234-123412341234}" type="slidenum">
              <a:rPr b="0" i="0" lang="en-US" sz="37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33"/>
          <p:cNvSpPr txBox="1"/>
          <p:nvPr/>
        </p:nvSpPr>
        <p:spPr>
          <a:xfrm>
            <a:off x="1947559" y="806999"/>
            <a:ext cx="776910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33C"/>
                </a:solidFill>
                <a:latin typeface="Rubik"/>
                <a:ea typeface="Rubik"/>
                <a:cs typeface="Rubik"/>
                <a:sym typeface="Rubik"/>
              </a:rPr>
              <a:t>ЧТО ДАЛЬШЕ?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33"/>
          <p:cNvSpPr txBox="1"/>
          <p:nvPr/>
        </p:nvSpPr>
        <p:spPr>
          <a:xfrm>
            <a:off x="1880862" y="2039855"/>
            <a:ext cx="8266990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Выравнивание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текста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Увеличение /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уменьшение размера шрифта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Изменение начертания (полужирный, курсив)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Списки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Таблицы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Вставка изображений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