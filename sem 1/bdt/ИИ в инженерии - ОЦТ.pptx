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2"/>
    <p:sldId id="257" r:id="rId3"/>
    <p:sldId id="258" r:id="rId4"/>
    <p:sldId id="259" r:id="rId5"/>
    <p:sldId id="260" r:id="rId6"/>
  </p:sldIdLst>
  <p:sldSz cx="12192000" cy="6858000"/>
  <p:notesSz cx="6858000" cy="9144000"/>
  <p:embeddedFontLst>
    <p:embeddedFont>
      <p:font typeface="Calibri" panose="020F0502020204030204" pitchFamily="34" charset="0"/>
      <p:regular r:id="rId7"/>
      <p:bold r:id="rId8"/>
      <p:italic r:id="rId9"/>
      <p:boldItalic r:id="rId10"/>
    </p:embeddedFont>
    <p:embeddedFont>
      <p:font typeface="Calibri Light" panose="020F0302020204030204" pitchFamily="34" charset="0"/>
      <p:regular r:id="rId11"/>
      <p:italic r:id="rId12"/>
    </p:embeddedFont>
    <p:embeddedFont>
      <p:font typeface="Inter" panose="02000503000000020004" pitchFamily="2" charset="0"/>
      <p:regular r:id="rId13"/>
      <p:bold r:id="rId14"/>
      <p:italic r:id="rId15"/>
      <p:boldItalic r:id="rId16"/>
    </p:embeddedFont>
    <p:embeddedFont>
      <p:font typeface="Inter ExtraBold" panose="02000503000000020004" pitchFamily="2" charset="0"/>
      <p:bold r:id="rId17"/>
      <p:italic r:id="rId18"/>
      <p:boldItalic r:id="rId19"/>
    </p:embeddedFont>
    <p:embeddedFont>
      <p:font typeface="Inter SemiBold" panose="02000503000000020004" pitchFamily="2" charset="0"/>
      <p:regular r:id="rId20"/>
      <p:bold r:id="rId21"/>
      <p:italic r:id="rId22"/>
      <p:boldItalic r:id="rId2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44"/>
    <p:restoredTop sz="94660"/>
  </p:normalViewPr>
  <p:slideViewPr>
    <p:cSldViewPr snapToGrid="0">
      <p:cViewPr varScale="1">
        <p:scale>
          <a:sx n="100" d="100"/>
          <a:sy n="100" d="100"/>
        </p:scale>
        <p:origin x="4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5.fntdata"/><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5.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9.fntdata"/><Relationship Id="rId23" Type="http://schemas.openxmlformats.org/officeDocument/2006/relationships/font" Target="fonts/font17.fntdata"/><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font" Target="fonts/font16.fntdata"/><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_____Microsoft_Excel.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Продажи</c:v>
                </c:pt>
              </c:strCache>
            </c:strRef>
          </c:tx>
          <c:spPr>
            <a:solidFill>
              <a:schemeClr val="lt1"/>
            </a:solidFill>
            <a:ln w="12700" cap="flat" cmpd="sng" algn="ctr">
              <a:solidFill>
                <a:schemeClr val="dk1"/>
              </a:solidFill>
              <a:prstDash val="solid"/>
              <a:miter lim="800000"/>
            </a:ln>
            <a:effectLst/>
          </c:spPr>
          <c:dPt>
            <c:idx val="0"/>
            <c:bubble3D val="0"/>
            <c:spPr>
              <a:solidFill>
                <a:schemeClr val="lt1"/>
              </a:solidFill>
              <a:ln w="12700" cap="flat" cmpd="sng" algn="ctr">
                <a:solidFill>
                  <a:schemeClr val="dk1"/>
                </a:solidFill>
                <a:prstDash val="solid"/>
                <a:miter lim="800000"/>
              </a:ln>
              <a:effectLst/>
            </c:spPr>
            <c:extLst>
              <c:ext xmlns:c16="http://schemas.microsoft.com/office/drawing/2014/chart" uri="{C3380CC4-5D6E-409C-BE32-E72D297353CC}">
                <c16:uniqueId val="{00000002-83B1-C149-B27C-0C13EFDF04A1}"/>
              </c:ext>
            </c:extLst>
          </c:dPt>
          <c:dPt>
            <c:idx val="1"/>
            <c:bubble3D val="0"/>
            <c:spPr>
              <a:solidFill>
                <a:schemeClr val="lt1"/>
              </a:solidFill>
              <a:ln w="12700" cap="flat" cmpd="sng" algn="ctr">
                <a:solidFill>
                  <a:schemeClr val="dk1"/>
                </a:solidFill>
                <a:prstDash val="solid"/>
                <a:miter lim="800000"/>
              </a:ln>
              <a:effectLst/>
            </c:spPr>
            <c:extLst>
              <c:ext xmlns:c16="http://schemas.microsoft.com/office/drawing/2014/chart" uri="{C3380CC4-5D6E-409C-BE32-E72D297353CC}">
                <c16:uniqueId val="{00000001-83B1-C149-B27C-0C13EFDF04A1}"/>
              </c:ext>
            </c:extLst>
          </c:dPt>
          <c:dPt>
            <c:idx val="2"/>
            <c:bubble3D val="0"/>
            <c:spPr>
              <a:solidFill>
                <a:schemeClr val="lt1"/>
              </a:solidFill>
              <a:ln w="12700" cap="flat" cmpd="sng" algn="ctr">
                <a:solidFill>
                  <a:schemeClr val="dk1"/>
                </a:solidFill>
                <a:prstDash val="solid"/>
                <a:miter lim="800000"/>
              </a:ln>
              <a:effectLst/>
            </c:spPr>
            <c:extLst>
              <c:ext xmlns:c16="http://schemas.microsoft.com/office/drawing/2014/chart" uri="{C3380CC4-5D6E-409C-BE32-E72D297353CC}">
                <c16:uniqueId val="{00000003-83B1-C149-B27C-0C13EFDF04A1}"/>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3B1-C149-B27C-0C13EFDF04A1}"/>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3B1-C149-B27C-0C13EFDF04A1}"/>
                </c:ext>
              </c:extLst>
            </c:dLbl>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3B1-C149-B27C-0C13EFDF04A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s>
          <c:cat>
            <c:strRef>
              <c:f>Лист1!$A$2:$A$4</c:f>
              <c:strCache>
                <c:ptCount val="3"/>
                <c:pt idx="0">
                  <c:v>Внедрили ИИ</c:v>
                </c:pt>
                <c:pt idx="1">
                  <c:v>Широко используют</c:v>
                </c:pt>
                <c:pt idx="2">
                  <c:v>Не используют</c:v>
                </c:pt>
              </c:strCache>
            </c:strRef>
          </c:cat>
          <c:val>
            <c:numRef>
              <c:f>Лист1!$B$2:$B$4</c:f>
              <c:numCache>
                <c:formatCode>0%</c:formatCode>
                <c:ptCount val="3"/>
                <c:pt idx="0">
                  <c:v>0.69</c:v>
                </c:pt>
                <c:pt idx="1">
                  <c:v>0.22</c:v>
                </c:pt>
                <c:pt idx="2">
                  <c:v>0.09</c:v>
                </c:pt>
              </c:numCache>
            </c:numRef>
          </c:val>
          <c:extLst>
            <c:ext xmlns:c16="http://schemas.microsoft.com/office/drawing/2014/chart" uri="{C3380CC4-5D6E-409C-BE32-E72D297353CC}">
              <c16:uniqueId val="{00000000-83B1-C149-B27C-0C13EFDF04A1}"/>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0">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1064"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styleClr val="0"/>
    </cs:lnRef>
    <cs:fillRef idx="0"/>
    <cs:effectRef idx="0"/>
    <cs:fontRef idx="minor">
      <cs:styleClr val="0"/>
    </cs:fontRef>
    <cs:defRPr sz="1197" b="1" kern="1200"/>
  </cs:dataLabel>
  <cs:dataLabelCallout>
    <cs:lnRef idx="0">
      <cs:styleClr val="0"/>
    </cs:lnRef>
    <cs:fillRef idx="0"/>
    <cs:effectRef idx="0"/>
    <cs:fontRef idx="minor">
      <cs:styleClr val="0"/>
    </cs:fontRef>
    <cs:spPr>
      <a:solidFill>
        <a:schemeClr val="lt1"/>
      </a:solidFill>
      <a:ln>
        <a:solidFill>
          <a:schemeClr val="phClr"/>
        </a:solidFill>
      </a:ln>
    </cs:spPr>
    <cs:defRPr sz="1197" b="1" kern="1200"/>
    <cs:bodyPr rot="0" spcFirstLastPara="1" vertOverflow="clip" horzOverflow="clip" vert="horz" wrap="square" lIns="36576" tIns="18288" rIns="36576" bIns="18288" anchor="ctr" anchorCtr="1">
      <a:spAutoFit/>
    </cs:bodyPr>
  </cs:dataLabelCallout>
  <cs:dataPoint>
    <cs:lnRef idx="0">
      <cs:styleClr val="0"/>
    </cs:lnRef>
    <cs:fillRef idx="0"/>
    <cs:effectRef idx="0"/>
    <cs:fontRef idx="minor">
      <a:schemeClr val="dk1"/>
    </cs:fontRef>
    <cs:spPr>
      <a:solidFill>
        <a:schemeClr val="lt1"/>
      </a:solidFill>
      <a:ln w="19050">
        <a:solidFill>
          <a:schemeClr val="phClr"/>
        </a:solidFill>
      </a:ln>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D2C345-49D0-CEC6-CEC3-8EB766976E26}"/>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1A6AE3E-E020-0676-228D-EF3FB01258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1EA858BD-660E-24A9-3848-A853E824BC4F}"/>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5" name="Нижний колонтитул 4">
            <a:extLst>
              <a:ext uri="{FF2B5EF4-FFF2-40B4-BE49-F238E27FC236}">
                <a16:creationId xmlns:a16="http://schemas.microsoft.com/office/drawing/2014/main" id="{1F1994A1-7CD5-7090-AEA8-46F29EEFC95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DC02039-ECBC-3B02-8553-5C270864E3CB}"/>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481221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D2D84F-C1FD-4EB5-3E5E-57E035FD0F8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7345D6D-57F9-D354-8DB5-8A4251596579}"/>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3CCA33E-E31D-36FF-091F-46DE90C77F24}"/>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5" name="Нижний колонтитул 4">
            <a:extLst>
              <a:ext uri="{FF2B5EF4-FFF2-40B4-BE49-F238E27FC236}">
                <a16:creationId xmlns:a16="http://schemas.microsoft.com/office/drawing/2014/main" id="{CC932981-B0FD-6ABC-FC53-1B6A8A92647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2312B5C-4CFF-46B1-0B53-85E821241B48}"/>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14897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2CB24D-CF54-0095-1935-4D88E724A72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59E4404F-D2BF-DABB-14FF-B3A81B79F8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C97BD24D-41AC-4001-679A-6A1E958443D6}"/>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5" name="Нижний колонтитул 4">
            <a:extLst>
              <a:ext uri="{FF2B5EF4-FFF2-40B4-BE49-F238E27FC236}">
                <a16:creationId xmlns:a16="http://schemas.microsoft.com/office/drawing/2014/main" id="{39B8AE2C-77B7-2856-0404-6C85980F388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FAFFD9E-6805-1EC2-2CCD-ED8A67B8CB12}"/>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289782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E0CCE3-1025-5C8C-899D-C94F7BB94BE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809C99A9-D551-E2EC-94CF-9AEF5B2B131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15CA4F11-4553-F926-812F-CFC983CE6C66}"/>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D22B957A-0E65-43C9-8399-52C87AB2E1FB}"/>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6" name="Нижний колонтитул 5">
            <a:extLst>
              <a:ext uri="{FF2B5EF4-FFF2-40B4-BE49-F238E27FC236}">
                <a16:creationId xmlns:a16="http://schemas.microsoft.com/office/drawing/2014/main" id="{DAEF6904-B8A5-B885-38FC-A329E78177C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5D37EE7-DF43-9AE1-62B5-8D593FC5BF3A}"/>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4017218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029CA7-43F9-5166-CC89-078787B14833}"/>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7331F245-30D8-8DCD-05ED-28146142D3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948AB987-F92C-BB2C-DE29-2F99D9CD03A2}"/>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BB5E1B6A-C220-3741-F11F-B08FAF2685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5DE5368D-6D09-FB88-A392-CB7F5996B7A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36D0F6E6-9243-E803-E492-FAF28EFD4E8C}"/>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8" name="Нижний колонтитул 7">
            <a:extLst>
              <a:ext uri="{FF2B5EF4-FFF2-40B4-BE49-F238E27FC236}">
                <a16:creationId xmlns:a16="http://schemas.microsoft.com/office/drawing/2014/main" id="{05BA8638-9DED-985D-F933-17D7583F18E1}"/>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8BF194D6-AA3D-ACAC-F786-9CCD76FAF2C4}"/>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297001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A9C73D-FCB3-A78A-8066-F6B461EE7426}"/>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FDC5DAB7-EEA4-1006-FA5B-92C92013F467}"/>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4" name="Нижний колонтитул 3">
            <a:extLst>
              <a:ext uri="{FF2B5EF4-FFF2-40B4-BE49-F238E27FC236}">
                <a16:creationId xmlns:a16="http://schemas.microsoft.com/office/drawing/2014/main" id="{AC7E45C8-FCAC-F2FA-19DA-305FC245C077}"/>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723AAB9-CCA1-C6F8-B71A-12BA47A0875F}"/>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668596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697CEA9B-016A-A2C3-C723-EC68E8EFBFB0}"/>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3" name="Нижний колонтитул 2">
            <a:extLst>
              <a:ext uri="{FF2B5EF4-FFF2-40B4-BE49-F238E27FC236}">
                <a16:creationId xmlns:a16="http://schemas.microsoft.com/office/drawing/2014/main" id="{245ABC03-EFB7-3BF3-BDAA-DA232A3D7736}"/>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319AB980-78DA-E15A-E399-12FE676D97A1}"/>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3623661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952CCB-EB15-B309-0F21-F6EC33B3701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0749FA8B-B2C4-E671-492C-88E999F677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5E2D0D8-3332-8633-84B2-B54DC845AB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42B9C6E-61EB-DAA7-9812-DF4B7D69697D}"/>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6" name="Нижний колонтитул 5">
            <a:extLst>
              <a:ext uri="{FF2B5EF4-FFF2-40B4-BE49-F238E27FC236}">
                <a16:creationId xmlns:a16="http://schemas.microsoft.com/office/drawing/2014/main" id="{0793C07F-139F-467A-D554-3F0E2895150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E88FAFA-3FD8-4198-556D-3CC44256E00E}"/>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1924668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E7FB30-8BE8-09D0-2EEF-8F497B100CB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14C1A4EC-B626-D09C-0159-BA63878690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02EF8252-F4C2-F3F2-DBB4-4DCD531B13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4BB1913-8A9A-B915-7C4F-83A1D4196F70}"/>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6" name="Нижний колонтитул 5">
            <a:extLst>
              <a:ext uri="{FF2B5EF4-FFF2-40B4-BE49-F238E27FC236}">
                <a16:creationId xmlns:a16="http://schemas.microsoft.com/office/drawing/2014/main" id="{F9407F75-0D02-1CFD-870B-C8650752DAD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76D43BB-FA19-2B89-4A54-A02AD4334073}"/>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3475998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974347-E61E-CE8F-D213-BCE6B65CF70F}"/>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2D27A18A-F7AE-18DE-733B-1C97AB76490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AC1B78D-6F77-FF01-F5F1-5BA26618A5A7}"/>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5" name="Нижний колонтитул 4">
            <a:extLst>
              <a:ext uri="{FF2B5EF4-FFF2-40B4-BE49-F238E27FC236}">
                <a16:creationId xmlns:a16="http://schemas.microsoft.com/office/drawing/2014/main" id="{04F39683-1808-DF5A-78EA-B5F2558753A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0AB4204-0159-97D3-1BCB-4176DA47F20C}"/>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2694897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29BFAD41-164E-74EA-6FAF-7E24CC949275}"/>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EDD4670E-0776-B34C-B7A6-28F56C3C9662}"/>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73831DE-B026-335C-BF69-7EAFC9F1D9F2}"/>
              </a:ext>
            </a:extLst>
          </p:cNvPr>
          <p:cNvSpPr>
            <a:spLocks noGrp="1"/>
          </p:cNvSpPr>
          <p:nvPr>
            <p:ph type="dt" sz="half" idx="10"/>
          </p:nvPr>
        </p:nvSpPr>
        <p:spPr/>
        <p:txBody>
          <a:bodyPr/>
          <a:lstStyle/>
          <a:p>
            <a:fld id="{31C122E2-A495-7446-AF06-D0E92D1BB7AF}" type="datetimeFigureOut">
              <a:rPr lang="ru-RU" smtClean="0"/>
              <a:t>12.11.2025</a:t>
            </a:fld>
            <a:endParaRPr lang="ru-RU"/>
          </a:p>
        </p:txBody>
      </p:sp>
      <p:sp>
        <p:nvSpPr>
          <p:cNvPr id="5" name="Нижний колонтитул 4">
            <a:extLst>
              <a:ext uri="{FF2B5EF4-FFF2-40B4-BE49-F238E27FC236}">
                <a16:creationId xmlns:a16="http://schemas.microsoft.com/office/drawing/2014/main" id="{FFD724F5-CA09-968A-BE6A-AA79BC1053C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0CF1AC5-826E-4FA5-19D2-7F4FC4E0A95E}"/>
              </a:ext>
            </a:extLst>
          </p:cNvPr>
          <p:cNvSpPr>
            <a:spLocks noGrp="1"/>
          </p:cNvSpPr>
          <p:nvPr>
            <p:ph type="sldNum" sz="quarter" idx="12"/>
          </p:nvPr>
        </p:nvSpPr>
        <p:spPr/>
        <p:txBody>
          <a:bodyPr/>
          <a:lstStyle/>
          <a:p>
            <a:fld id="{1B799993-7AAB-D948-B3E1-981F86350E2D}" type="slidenum">
              <a:rPr lang="ru-RU" smtClean="0"/>
              <a:t>‹#›</a:t>
            </a:fld>
            <a:endParaRPr lang="ru-RU"/>
          </a:p>
        </p:txBody>
      </p:sp>
    </p:spTree>
    <p:extLst>
      <p:ext uri="{BB962C8B-B14F-4D97-AF65-F5344CB8AC3E}">
        <p14:creationId xmlns:p14="http://schemas.microsoft.com/office/powerpoint/2010/main" val="1945526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76321F-948F-A472-76EC-C74B59FBFD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76D895D5-794F-0C4A-D48D-B286471922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47951C0-AEE5-48C6-9DE2-468E8A2D52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C122E2-A495-7446-AF06-D0E92D1BB7AF}" type="datetimeFigureOut">
              <a:rPr lang="ru-RU" smtClean="0"/>
              <a:t>12.11.2025</a:t>
            </a:fld>
            <a:endParaRPr lang="ru-RU"/>
          </a:p>
        </p:txBody>
      </p:sp>
      <p:sp>
        <p:nvSpPr>
          <p:cNvPr id="5" name="Нижний колонтитул 4">
            <a:extLst>
              <a:ext uri="{FF2B5EF4-FFF2-40B4-BE49-F238E27FC236}">
                <a16:creationId xmlns:a16="http://schemas.microsoft.com/office/drawing/2014/main" id="{5885FBF9-D6FA-306E-6CE5-541B5BC8F9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003FC4BC-B851-7782-D397-AEFEF94919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799993-7AAB-D948-B3E1-981F86350E2D}" type="slidenum">
              <a:rPr lang="ru-RU" smtClean="0"/>
              <a:t>‹#›</a:t>
            </a:fld>
            <a:endParaRPr lang="ru-RU"/>
          </a:p>
        </p:txBody>
      </p:sp>
    </p:spTree>
    <p:extLst>
      <p:ext uri="{BB962C8B-B14F-4D97-AF65-F5344CB8AC3E}">
        <p14:creationId xmlns:p14="http://schemas.microsoft.com/office/powerpoint/2010/main" val="1897406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research.google/blog/google-research-at-google-io-2025/"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89DD5929-B86C-8045-64A5-C8DB85A9E9CE}"/>
              </a:ext>
            </a:extLst>
          </p:cNvPr>
          <p:cNvSpPr/>
          <p:nvPr/>
        </p:nvSpPr>
        <p:spPr>
          <a:xfrm>
            <a:off x="0" y="0"/>
            <a:ext cx="12192000" cy="68580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a:extLst>
              <a:ext uri="{FF2B5EF4-FFF2-40B4-BE49-F238E27FC236}">
                <a16:creationId xmlns:a16="http://schemas.microsoft.com/office/drawing/2014/main" id="{07E442D8-FCF2-FD37-61EE-C8004E18C51D}"/>
              </a:ext>
            </a:extLst>
          </p:cNvPr>
          <p:cNvSpPr>
            <a:spLocks noGrp="1"/>
          </p:cNvSpPr>
          <p:nvPr>
            <p:ph type="ctrTitle"/>
          </p:nvPr>
        </p:nvSpPr>
        <p:spPr/>
        <p:txBody>
          <a:bodyPr>
            <a:normAutofit fontScale="90000"/>
          </a:bodyPr>
          <a:lstStyle/>
          <a:p>
            <a:r>
              <a:rPr lang="ru-RU" b="1" dirty="0">
                <a:solidFill>
                  <a:schemeClr val="bg1"/>
                </a:solidFill>
                <a:effectLst/>
                <a:latin typeface="Inter" panose="02000503000000020004" pitchFamily="2" charset="0"/>
                <a:ea typeface="Inter" panose="02000503000000020004" pitchFamily="2" charset="0"/>
              </a:rPr>
              <a:t>Искусственный интеллект в инженерии</a:t>
            </a:r>
            <a:endParaRPr lang="ru-RU" b="1" dirty="0">
              <a:solidFill>
                <a:schemeClr val="bg1"/>
              </a:solidFill>
              <a:latin typeface="Inter" panose="02000503000000020004" pitchFamily="2" charset="0"/>
              <a:ea typeface="Inter" panose="02000503000000020004" pitchFamily="2" charset="0"/>
            </a:endParaRPr>
          </a:p>
        </p:txBody>
      </p:sp>
      <p:sp>
        <p:nvSpPr>
          <p:cNvPr id="3" name="Подзаголовок 2">
            <a:extLst>
              <a:ext uri="{FF2B5EF4-FFF2-40B4-BE49-F238E27FC236}">
                <a16:creationId xmlns:a16="http://schemas.microsoft.com/office/drawing/2014/main" id="{CB848311-8329-148C-DC51-ED77BE6E61B2}"/>
              </a:ext>
            </a:extLst>
          </p:cNvPr>
          <p:cNvSpPr>
            <a:spLocks noGrp="1"/>
          </p:cNvSpPr>
          <p:nvPr>
            <p:ph type="subTitle" idx="1"/>
          </p:nvPr>
        </p:nvSpPr>
        <p:spPr/>
        <p:txBody>
          <a:bodyPr/>
          <a:lstStyle/>
          <a:p>
            <a:r>
              <a:rPr lang="ru-RU" dirty="0">
                <a:solidFill>
                  <a:schemeClr val="bg1"/>
                </a:solidFill>
                <a:effectLst/>
                <a:latin typeface="Menlo" panose="020B0609030804020204" pitchFamily="49" charset="0"/>
                <a:ea typeface="Menlo" panose="020B0609030804020204" pitchFamily="49" charset="0"/>
                <a:cs typeface="Menlo" panose="020B0609030804020204" pitchFamily="49" charset="0"/>
              </a:rPr>
              <a:t>Новая эра автоматизации и проектирования</a:t>
            </a:r>
            <a:endParaRPr lang="ru-RU" dirty="0">
              <a:solidFill>
                <a:schemeClr val="bg1"/>
              </a:solidFill>
              <a:latin typeface="Menlo" panose="020B0609030804020204" pitchFamily="49" charset="0"/>
              <a:ea typeface="Menlo" panose="020B0609030804020204" pitchFamily="49" charset="0"/>
              <a:cs typeface="Menlo" panose="020B0609030804020204" pitchFamily="49" charset="0"/>
            </a:endParaRPr>
          </a:p>
        </p:txBody>
      </p:sp>
      <p:sp>
        <p:nvSpPr>
          <p:cNvPr id="5" name="Открывающая фигурная скобка 4">
            <a:extLst>
              <a:ext uri="{FF2B5EF4-FFF2-40B4-BE49-F238E27FC236}">
                <a16:creationId xmlns:a16="http://schemas.microsoft.com/office/drawing/2014/main" id="{37370176-CEED-6B42-F731-BD21128A6E0E}"/>
              </a:ext>
            </a:extLst>
          </p:cNvPr>
          <p:cNvSpPr/>
          <p:nvPr/>
        </p:nvSpPr>
        <p:spPr>
          <a:xfrm>
            <a:off x="2176804" y="3602038"/>
            <a:ext cx="134289" cy="413371"/>
          </a:xfrm>
          <a:prstGeom prst="leftBrace">
            <a:avLst>
              <a:gd name="adj1" fmla="val 19312"/>
              <a:gd name="adj2" fmla="val 50000"/>
            </a:avLst>
          </a:prstGeom>
          <a:noFill/>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p>
        </p:txBody>
      </p:sp>
      <p:sp>
        <p:nvSpPr>
          <p:cNvPr id="6" name="Открывающая фигурная скобка 5">
            <a:extLst>
              <a:ext uri="{FF2B5EF4-FFF2-40B4-BE49-F238E27FC236}">
                <a16:creationId xmlns:a16="http://schemas.microsoft.com/office/drawing/2014/main" id="{ADC1CBBD-9868-3067-8120-6B0B7FAE8515}"/>
              </a:ext>
            </a:extLst>
          </p:cNvPr>
          <p:cNvSpPr/>
          <p:nvPr/>
        </p:nvSpPr>
        <p:spPr>
          <a:xfrm rot="10800000">
            <a:off x="9879495" y="3602038"/>
            <a:ext cx="134289" cy="413371"/>
          </a:xfrm>
          <a:prstGeom prst="leftBrace">
            <a:avLst>
              <a:gd name="adj1" fmla="val 19312"/>
              <a:gd name="adj2" fmla="val 50000"/>
            </a:avLst>
          </a:prstGeom>
          <a:noFill/>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p>
        </p:txBody>
      </p:sp>
    </p:spTree>
    <p:extLst>
      <p:ext uri="{BB962C8B-B14F-4D97-AF65-F5344CB8AC3E}">
        <p14:creationId xmlns:p14="http://schemas.microsoft.com/office/powerpoint/2010/main" val="2557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EAF7DF-0B1B-B95A-1E1B-2571D64A4CF3}"/>
              </a:ext>
            </a:extLst>
          </p:cNvPr>
          <p:cNvSpPr>
            <a:spLocks noGrp="1"/>
          </p:cNvSpPr>
          <p:nvPr>
            <p:ph type="title"/>
          </p:nvPr>
        </p:nvSpPr>
        <p:spPr/>
        <p:txBody>
          <a:bodyPr/>
          <a:lstStyle/>
          <a:p>
            <a:endParaRPr lang="ru-RU"/>
          </a:p>
        </p:txBody>
      </p:sp>
      <p:sp>
        <p:nvSpPr>
          <p:cNvPr id="4" name="Прямоугольник 3">
            <a:extLst>
              <a:ext uri="{FF2B5EF4-FFF2-40B4-BE49-F238E27FC236}">
                <a16:creationId xmlns:a16="http://schemas.microsoft.com/office/drawing/2014/main" id="{FB0BCEA6-C245-9E20-ABA6-5118C15C67DE}"/>
              </a:ext>
            </a:extLst>
          </p:cNvPr>
          <p:cNvSpPr/>
          <p:nvPr/>
        </p:nvSpPr>
        <p:spPr>
          <a:xfrm>
            <a:off x="4621" y="-1"/>
            <a:ext cx="12192000" cy="68580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CA8F80AF-BD26-F938-11EB-E5E4BC8C0BD1}"/>
              </a:ext>
            </a:extLst>
          </p:cNvPr>
          <p:cNvSpPr txBox="1"/>
          <p:nvPr/>
        </p:nvSpPr>
        <p:spPr>
          <a:xfrm>
            <a:off x="838200" y="402133"/>
            <a:ext cx="7684008" cy="584775"/>
          </a:xfrm>
          <a:prstGeom prst="rect">
            <a:avLst/>
          </a:prstGeom>
          <a:noFill/>
        </p:spPr>
        <p:txBody>
          <a:bodyPr wrap="square">
            <a:spAutoFit/>
          </a:bodyPr>
          <a:lstStyle/>
          <a:p>
            <a:r>
              <a:rPr lang="ru-RU" sz="3200" b="1" i="0" dirty="0">
                <a:solidFill>
                  <a:schemeClr val="bg1"/>
                </a:solidFill>
                <a:effectLst/>
                <a:latin typeface="Menlo" panose="020B0609030804020204" pitchFamily="49" charset="0"/>
              </a:rPr>
              <a:t>ИИ сегодня: Массовое внедрение</a:t>
            </a:r>
            <a:endParaRPr lang="ru-RU" sz="3200" b="1" dirty="0">
              <a:solidFill>
                <a:schemeClr val="bg1"/>
              </a:solidFill>
            </a:endParaRPr>
          </a:p>
        </p:txBody>
      </p:sp>
      <p:sp>
        <p:nvSpPr>
          <p:cNvPr id="8" name="TextBox 7">
            <a:extLst>
              <a:ext uri="{FF2B5EF4-FFF2-40B4-BE49-F238E27FC236}">
                <a16:creationId xmlns:a16="http://schemas.microsoft.com/office/drawing/2014/main" id="{FFBAA4EA-EF89-794B-2415-E82BB8E56CFC}"/>
              </a:ext>
            </a:extLst>
          </p:cNvPr>
          <p:cNvSpPr txBox="1"/>
          <p:nvPr/>
        </p:nvSpPr>
        <p:spPr>
          <a:xfrm>
            <a:off x="6002805" y="1444926"/>
            <a:ext cx="5879537" cy="1862048"/>
          </a:xfrm>
          <a:prstGeom prst="rect">
            <a:avLst/>
          </a:prstGeom>
          <a:noFill/>
        </p:spPr>
        <p:txBody>
          <a:bodyPr wrap="square">
            <a:spAutoFit/>
          </a:bodyPr>
          <a:lstStyle/>
          <a:p>
            <a:r>
              <a:rPr lang="ru-RU" sz="11500" b="1" dirty="0">
                <a:solidFill>
                  <a:schemeClr val="bg1"/>
                </a:solidFill>
                <a:effectLst/>
                <a:latin typeface="Inter ExtraBold" panose="02000503000000020004" pitchFamily="2" charset="0"/>
                <a:ea typeface="Inter ExtraBold" panose="02000503000000020004" pitchFamily="2" charset="0"/>
              </a:rPr>
              <a:t>&gt;69%</a:t>
            </a:r>
            <a:endParaRPr lang="ru-RU" sz="11500" b="1" dirty="0">
              <a:solidFill>
                <a:schemeClr val="bg1"/>
              </a:solidFill>
              <a:latin typeface="Inter ExtraBold" panose="02000503000000020004" pitchFamily="2" charset="0"/>
              <a:ea typeface="Inter ExtraBold" panose="02000503000000020004" pitchFamily="2" charset="0"/>
            </a:endParaRPr>
          </a:p>
        </p:txBody>
      </p:sp>
      <p:sp>
        <p:nvSpPr>
          <p:cNvPr id="10" name="TextBox 9">
            <a:extLst>
              <a:ext uri="{FF2B5EF4-FFF2-40B4-BE49-F238E27FC236}">
                <a16:creationId xmlns:a16="http://schemas.microsoft.com/office/drawing/2014/main" id="{A9520A7A-E232-43D1-E63E-01120203B9D9}"/>
              </a:ext>
            </a:extLst>
          </p:cNvPr>
          <p:cNvSpPr txBox="1"/>
          <p:nvPr/>
        </p:nvSpPr>
        <p:spPr>
          <a:xfrm>
            <a:off x="6121452" y="3135615"/>
            <a:ext cx="5939227" cy="400110"/>
          </a:xfrm>
          <a:prstGeom prst="rect">
            <a:avLst/>
          </a:prstGeom>
          <a:noFill/>
        </p:spPr>
        <p:txBody>
          <a:bodyPr wrap="square">
            <a:spAutoFit/>
          </a:bodyPr>
          <a:lstStyle/>
          <a:p>
            <a:r>
              <a:rPr lang="ru-RU" sz="2000" b="1" dirty="0">
                <a:solidFill>
                  <a:schemeClr val="bg1"/>
                </a:solidFill>
                <a:effectLst/>
                <a:latin typeface="Inter SemiBold" panose="02000503000000020004" pitchFamily="2" charset="0"/>
                <a:ea typeface="Inter SemiBold" panose="02000503000000020004" pitchFamily="2" charset="0"/>
              </a:rPr>
              <a:t>компаний уже используют ИИ</a:t>
            </a:r>
            <a:endParaRPr lang="ru-RU" sz="2000" b="1" dirty="0">
              <a:solidFill>
                <a:schemeClr val="bg1"/>
              </a:solidFill>
              <a:latin typeface="Inter SemiBold" panose="02000503000000020004" pitchFamily="2" charset="0"/>
              <a:ea typeface="Inter SemiBold" panose="02000503000000020004" pitchFamily="2" charset="0"/>
            </a:endParaRPr>
          </a:p>
        </p:txBody>
      </p:sp>
      <p:sp>
        <p:nvSpPr>
          <p:cNvPr id="12" name="TextBox 11">
            <a:extLst>
              <a:ext uri="{FF2B5EF4-FFF2-40B4-BE49-F238E27FC236}">
                <a16:creationId xmlns:a16="http://schemas.microsoft.com/office/drawing/2014/main" id="{7D3C9A5B-3A42-8D23-77FD-8B360578E59A}"/>
              </a:ext>
            </a:extLst>
          </p:cNvPr>
          <p:cNvSpPr txBox="1"/>
          <p:nvPr/>
        </p:nvSpPr>
        <p:spPr>
          <a:xfrm>
            <a:off x="6096000" y="5154342"/>
            <a:ext cx="6168324" cy="707886"/>
          </a:xfrm>
          <a:prstGeom prst="rect">
            <a:avLst/>
          </a:prstGeom>
          <a:noFill/>
        </p:spPr>
        <p:txBody>
          <a:bodyPr wrap="square">
            <a:spAutoFit/>
          </a:bodyPr>
          <a:lstStyle/>
          <a:p>
            <a:r>
              <a:rPr lang="ru-RU" sz="2000" b="1" dirty="0">
                <a:solidFill>
                  <a:schemeClr val="bg1"/>
                </a:solidFill>
                <a:latin typeface="Inter SemiBold" panose="02000503000000020004" pitchFamily="2" charset="0"/>
                <a:ea typeface="Inter SemiBold" panose="02000503000000020004" pitchFamily="2" charset="0"/>
              </a:rPr>
              <a:t>каждая 5-я компания </a:t>
            </a:r>
          </a:p>
          <a:p>
            <a:r>
              <a:rPr lang="ru-RU" sz="2000" b="1" dirty="0">
                <a:solidFill>
                  <a:schemeClr val="bg1"/>
                </a:solidFill>
                <a:latin typeface="Inter SemiBold" panose="02000503000000020004" pitchFamily="2" charset="0"/>
                <a:ea typeface="Inter SemiBold" panose="02000503000000020004" pitchFamily="2" charset="0"/>
              </a:rPr>
              <a:t>применяет ИИ широко </a:t>
            </a:r>
          </a:p>
        </p:txBody>
      </p:sp>
      <p:graphicFrame>
        <p:nvGraphicFramePr>
          <p:cNvPr id="13" name="Объект 12">
            <a:extLst>
              <a:ext uri="{FF2B5EF4-FFF2-40B4-BE49-F238E27FC236}">
                <a16:creationId xmlns:a16="http://schemas.microsoft.com/office/drawing/2014/main" id="{0720F5DB-EEF5-6542-BD22-B1A66A2ED278}"/>
              </a:ext>
            </a:extLst>
          </p:cNvPr>
          <p:cNvGraphicFramePr>
            <a:graphicFrameLocks noGrp="1"/>
          </p:cNvGraphicFramePr>
          <p:nvPr>
            <p:ph idx="1"/>
            <p:extLst>
              <p:ext uri="{D42A27DB-BD31-4B8C-83A1-F6EECF244321}">
                <p14:modId xmlns:p14="http://schemas.microsoft.com/office/powerpoint/2010/main" val="520662439"/>
              </p:ext>
            </p:extLst>
          </p:nvPr>
        </p:nvGraphicFramePr>
        <p:xfrm>
          <a:off x="47769" y="1479391"/>
          <a:ext cx="6551852" cy="4847167"/>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a:extLst>
              <a:ext uri="{FF2B5EF4-FFF2-40B4-BE49-F238E27FC236}">
                <a16:creationId xmlns:a16="http://schemas.microsoft.com/office/drawing/2014/main" id="{FD9D7E77-D644-9463-3A02-1BE378838913}"/>
              </a:ext>
            </a:extLst>
          </p:cNvPr>
          <p:cNvSpPr txBox="1"/>
          <p:nvPr/>
        </p:nvSpPr>
        <p:spPr>
          <a:xfrm>
            <a:off x="6037899" y="3902975"/>
            <a:ext cx="6106332" cy="1323439"/>
          </a:xfrm>
          <a:prstGeom prst="rect">
            <a:avLst/>
          </a:prstGeom>
          <a:noFill/>
        </p:spPr>
        <p:txBody>
          <a:bodyPr wrap="square">
            <a:spAutoFit/>
          </a:bodyPr>
          <a:lstStyle/>
          <a:p>
            <a:r>
              <a:rPr lang="en-US" sz="8000" b="1" dirty="0">
                <a:solidFill>
                  <a:schemeClr val="bg1"/>
                </a:solidFill>
                <a:latin typeface="Inter ExtraBold" panose="02000503000000020004" pitchFamily="2" charset="0"/>
                <a:ea typeface="Inter ExtraBold" panose="02000503000000020004" pitchFamily="2" charset="0"/>
              </a:rPr>
              <a:t>~22</a:t>
            </a:r>
            <a:r>
              <a:rPr lang="ru-RU" sz="8000" b="1" dirty="0">
                <a:solidFill>
                  <a:schemeClr val="bg1"/>
                </a:solidFill>
                <a:effectLst/>
                <a:latin typeface="Inter ExtraBold" panose="02000503000000020004" pitchFamily="2" charset="0"/>
                <a:ea typeface="Inter ExtraBold" panose="02000503000000020004" pitchFamily="2" charset="0"/>
              </a:rPr>
              <a:t>%</a:t>
            </a:r>
            <a:endParaRPr lang="ru-RU" sz="8000" b="1" dirty="0">
              <a:solidFill>
                <a:schemeClr val="bg1"/>
              </a:solidFill>
              <a:latin typeface="Inter ExtraBold" panose="02000503000000020004" pitchFamily="2" charset="0"/>
              <a:ea typeface="Inter ExtraBold" panose="02000503000000020004" pitchFamily="2" charset="0"/>
            </a:endParaRPr>
          </a:p>
        </p:txBody>
      </p:sp>
    </p:spTree>
    <p:extLst>
      <p:ext uri="{BB962C8B-B14F-4D97-AF65-F5344CB8AC3E}">
        <p14:creationId xmlns:p14="http://schemas.microsoft.com/office/powerpoint/2010/main" val="3948381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AD075D-D601-66A8-B041-A7D437CF02D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883E4559-2D9D-D8FF-5E77-B1C72994CD76}"/>
              </a:ext>
            </a:extLst>
          </p:cNvPr>
          <p:cNvSpPr>
            <a:spLocks noGrp="1"/>
          </p:cNvSpPr>
          <p:nvPr>
            <p:ph idx="1"/>
          </p:nvPr>
        </p:nvSpPr>
        <p:spPr/>
        <p:txBody>
          <a:bodyPr/>
          <a:lstStyle/>
          <a:p>
            <a:endParaRPr lang="ru-RU"/>
          </a:p>
        </p:txBody>
      </p:sp>
      <p:sp>
        <p:nvSpPr>
          <p:cNvPr id="4" name="Прямоугольник 3">
            <a:extLst>
              <a:ext uri="{FF2B5EF4-FFF2-40B4-BE49-F238E27FC236}">
                <a16:creationId xmlns:a16="http://schemas.microsoft.com/office/drawing/2014/main" id="{4EA26947-FBB9-D3FE-0DE3-1EE389574444}"/>
              </a:ext>
            </a:extLst>
          </p:cNvPr>
          <p:cNvSpPr/>
          <p:nvPr/>
        </p:nvSpPr>
        <p:spPr>
          <a:xfrm>
            <a:off x="4621" y="-1"/>
            <a:ext cx="12192000" cy="68580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8B58427F-7F13-8371-2BBB-C4776C14AA11}"/>
              </a:ext>
            </a:extLst>
          </p:cNvPr>
          <p:cNvSpPr txBox="1"/>
          <p:nvPr/>
        </p:nvSpPr>
        <p:spPr>
          <a:xfrm>
            <a:off x="838200" y="443131"/>
            <a:ext cx="10259568" cy="584775"/>
          </a:xfrm>
          <a:prstGeom prst="rect">
            <a:avLst/>
          </a:prstGeom>
          <a:noFill/>
        </p:spPr>
        <p:txBody>
          <a:bodyPr wrap="square">
            <a:spAutoFit/>
          </a:bodyPr>
          <a:lstStyle/>
          <a:p>
            <a:r>
              <a:rPr lang="ru-RU" sz="3200" b="1" dirty="0">
                <a:solidFill>
                  <a:schemeClr val="bg1"/>
                </a:solidFill>
                <a:latin typeface="Menlo" panose="020B0609030804020204" pitchFamily="49" charset="0"/>
              </a:rPr>
              <a:t>Агенты и стандарты: Движущие силы</a:t>
            </a:r>
          </a:p>
        </p:txBody>
      </p:sp>
      <p:sp>
        <p:nvSpPr>
          <p:cNvPr id="10" name="Скругленный прямоугольник 9">
            <a:extLst>
              <a:ext uri="{FF2B5EF4-FFF2-40B4-BE49-F238E27FC236}">
                <a16:creationId xmlns:a16="http://schemas.microsoft.com/office/drawing/2014/main" id="{E820C7F3-9B4D-A19A-FDD1-1591DBC57899}"/>
              </a:ext>
            </a:extLst>
          </p:cNvPr>
          <p:cNvSpPr/>
          <p:nvPr/>
        </p:nvSpPr>
        <p:spPr>
          <a:xfrm>
            <a:off x="552450" y="2240280"/>
            <a:ext cx="2813402" cy="1188720"/>
          </a:xfrm>
          <a:prstGeom prst="roundRect">
            <a:avLst>
              <a:gd name="adj" fmla="val 38205"/>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3200" b="1" i="0" dirty="0">
                <a:solidFill>
                  <a:schemeClr val="accent1">
                    <a:lumMod val="50000"/>
                  </a:schemeClr>
                </a:solidFill>
                <a:effectLst/>
                <a:latin typeface="quote-cjk-patch"/>
              </a:rPr>
              <a:t>ИИ-Агенты</a:t>
            </a:r>
            <a:endParaRPr lang="ru-RU" sz="3200" dirty="0">
              <a:solidFill>
                <a:schemeClr val="accent1">
                  <a:lumMod val="50000"/>
                </a:schemeClr>
              </a:solidFill>
            </a:endParaRPr>
          </a:p>
        </p:txBody>
      </p:sp>
      <p:sp>
        <p:nvSpPr>
          <p:cNvPr id="11" name="Скругленный прямоугольник 10">
            <a:extLst>
              <a:ext uri="{FF2B5EF4-FFF2-40B4-BE49-F238E27FC236}">
                <a16:creationId xmlns:a16="http://schemas.microsoft.com/office/drawing/2014/main" id="{51AA92BA-895A-59F9-BED9-604F7FF4D7D7}"/>
              </a:ext>
            </a:extLst>
          </p:cNvPr>
          <p:cNvSpPr/>
          <p:nvPr/>
        </p:nvSpPr>
        <p:spPr>
          <a:xfrm>
            <a:off x="4403549" y="2240280"/>
            <a:ext cx="2813402" cy="1188720"/>
          </a:xfrm>
          <a:prstGeom prst="roundRect">
            <a:avLst>
              <a:gd name="adj" fmla="val 38205"/>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1">
                    <a:lumMod val="50000"/>
                  </a:schemeClr>
                </a:solidFill>
                <a:latin typeface="quote-cjk-patch"/>
              </a:rPr>
              <a:t>MCP </a:t>
            </a:r>
          </a:p>
          <a:p>
            <a:pPr algn="ctr"/>
            <a:r>
              <a:rPr lang="en-US" sz="1600" b="1" dirty="0">
                <a:solidFill>
                  <a:schemeClr val="accent1">
                    <a:lumMod val="50000"/>
                  </a:schemeClr>
                </a:solidFill>
                <a:latin typeface="quote-cjk-patch"/>
              </a:rPr>
              <a:t>(Model Context Protocol)</a:t>
            </a:r>
            <a:endParaRPr lang="ru-RU" sz="1600" b="1" dirty="0">
              <a:solidFill>
                <a:schemeClr val="accent1">
                  <a:lumMod val="50000"/>
                </a:schemeClr>
              </a:solidFill>
              <a:latin typeface="quote-cjk-patch"/>
            </a:endParaRPr>
          </a:p>
        </p:txBody>
      </p:sp>
      <p:sp>
        <p:nvSpPr>
          <p:cNvPr id="12" name="Скругленный прямоугольник 11">
            <a:extLst>
              <a:ext uri="{FF2B5EF4-FFF2-40B4-BE49-F238E27FC236}">
                <a16:creationId xmlns:a16="http://schemas.microsoft.com/office/drawing/2014/main" id="{DB24D552-E0B7-3D0C-7131-BEB38F988CF5}"/>
              </a:ext>
            </a:extLst>
          </p:cNvPr>
          <p:cNvSpPr/>
          <p:nvPr/>
        </p:nvSpPr>
        <p:spPr>
          <a:xfrm>
            <a:off x="8254648" y="2234643"/>
            <a:ext cx="2813402" cy="1188720"/>
          </a:xfrm>
          <a:prstGeom prst="roundRect">
            <a:avLst>
              <a:gd name="adj" fmla="val 38205"/>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3200" b="1" dirty="0">
                <a:solidFill>
                  <a:schemeClr val="accent1">
                    <a:lumMod val="50000"/>
                  </a:schemeClr>
                </a:solidFill>
                <a:latin typeface="quote-cjk-patch"/>
              </a:rPr>
              <a:t>Инженерия</a:t>
            </a:r>
          </a:p>
        </p:txBody>
      </p:sp>
      <p:sp>
        <p:nvSpPr>
          <p:cNvPr id="14" name="TextBox 13">
            <a:extLst>
              <a:ext uri="{FF2B5EF4-FFF2-40B4-BE49-F238E27FC236}">
                <a16:creationId xmlns:a16="http://schemas.microsoft.com/office/drawing/2014/main" id="{30114480-1837-D88D-5F0A-B71C952E1BEE}"/>
              </a:ext>
            </a:extLst>
          </p:cNvPr>
          <p:cNvSpPr txBox="1"/>
          <p:nvPr/>
        </p:nvSpPr>
        <p:spPr>
          <a:xfrm>
            <a:off x="552450" y="4640044"/>
            <a:ext cx="7882030" cy="1877437"/>
          </a:xfrm>
          <a:prstGeom prst="rect">
            <a:avLst/>
          </a:prstGeom>
          <a:noFill/>
        </p:spPr>
        <p:txBody>
          <a:bodyPr wrap="square">
            <a:spAutoFit/>
          </a:bodyPr>
          <a:lstStyle/>
          <a:p>
            <a:r>
              <a:rPr lang="ru-RU" sz="2000" b="1" dirty="0">
                <a:solidFill>
                  <a:schemeClr val="bg1"/>
                </a:solidFill>
                <a:latin typeface="Inter SemiBold" panose="02000503000000020004" pitchFamily="2" charset="0"/>
                <a:ea typeface="Inter SemiBold" panose="02000503000000020004" pitchFamily="2" charset="0"/>
              </a:rPr>
              <a:t>- анализ данных</a:t>
            </a:r>
          </a:p>
          <a:p>
            <a:r>
              <a:rPr lang="ru-RU" sz="2000" b="1" dirty="0">
                <a:solidFill>
                  <a:schemeClr val="bg1"/>
                </a:solidFill>
                <a:latin typeface="Inter SemiBold" panose="02000503000000020004" pitchFamily="2" charset="0"/>
                <a:ea typeface="Inter SemiBold" panose="02000503000000020004" pitchFamily="2" charset="0"/>
              </a:rPr>
              <a:t>- планирование</a:t>
            </a:r>
          </a:p>
          <a:p>
            <a:r>
              <a:rPr lang="ru-RU" sz="2000" b="1" dirty="0">
                <a:solidFill>
                  <a:schemeClr val="bg1"/>
                </a:solidFill>
                <a:latin typeface="Inter SemiBold" panose="02000503000000020004" pitchFamily="2" charset="0"/>
                <a:ea typeface="Inter SemiBold" panose="02000503000000020004" pitchFamily="2" charset="0"/>
              </a:rPr>
              <a:t>- </a:t>
            </a:r>
            <a:r>
              <a:rPr lang="ru-RU" sz="2000" b="1" dirty="0" err="1">
                <a:solidFill>
                  <a:schemeClr val="bg1"/>
                </a:solidFill>
                <a:latin typeface="Inter SemiBold" panose="02000503000000020004" pitchFamily="2" charset="0"/>
                <a:ea typeface="Inter SemiBold" panose="02000503000000020004" pitchFamily="2" charset="0"/>
              </a:rPr>
              <a:t>автоматизия</a:t>
            </a:r>
            <a:r>
              <a:rPr lang="ru-RU" sz="2000" b="1" dirty="0">
                <a:solidFill>
                  <a:schemeClr val="bg1"/>
                </a:solidFill>
                <a:latin typeface="Inter SemiBold" panose="02000503000000020004" pitchFamily="2" charset="0"/>
                <a:ea typeface="Inter SemiBold" panose="02000503000000020004" pitchFamily="2" charset="0"/>
              </a:rPr>
              <a:t> сложных инженерных процессы</a:t>
            </a:r>
          </a:p>
          <a:p>
            <a:r>
              <a:rPr lang="ru-RU" sz="2000" b="1" dirty="0">
                <a:solidFill>
                  <a:schemeClr val="bg1"/>
                </a:solidFill>
                <a:latin typeface="Inter SemiBold" panose="02000503000000020004" pitchFamily="2" charset="0"/>
                <a:ea typeface="Inter SemiBold" panose="02000503000000020004" pitchFamily="2" charset="0"/>
              </a:rPr>
              <a:t>- контроль качества</a:t>
            </a:r>
            <a:endParaRPr lang="en-US" sz="2000" b="1" dirty="0">
              <a:solidFill>
                <a:schemeClr val="bg1"/>
              </a:solidFill>
              <a:latin typeface="Inter SemiBold" panose="02000503000000020004" pitchFamily="2" charset="0"/>
              <a:ea typeface="Inter SemiBold" panose="02000503000000020004" pitchFamily="2" charset="0"/>
            </a:endParaRPr>
          </a:p>
          <a:p>
            <a:r>
              <a:rPr lang="en-US" sz="2000" b="1" dirty="0">
                <a:solidFill>
                  <a:schemeClr val="bg1"/>
                </a:solidFill>
                <a:latin typeface="Inter SemiBold" panose="02000503000000020004" pitchFamily="2" charset="0"/>
                <a:ea typeface="Inter SemiBold" panose="02000503000000020004" pitchFamily="2" charset="0"/>
              </a:rPr>
              <a:t>- </a:t>
            </a:r>
            <a:r>
              <a:rPr lang="ru-RU" sz="2000" b="1" dirty="0">
                <a:solidFill>
                  <a:schemeClr val="bg1"/>
                </a:solidFill>
                <a:latin typeface="Inter SemiBold" panose="02000503000000020004" pitchFamily="2" charset="0"/>
                <a:ea typeface="Inter SemiBold" panose="02000503000000020004" pitchFamily="2" charset="0"/>
              </a:rPr>
              <a:t>оптимизация</a:t>
            </a:r>
          </a:p>
          <a:p>
            <a:endParaRPr lang="ru-RU" sz="1600" b="1" dirty="0">
              <a:solidFill>
                <a:schemeClr val="bg1"/>
              </a:solidFill>
              <a:latin typeface="Inter SemiBold" panose="02000503000000020004" pitchFamily="2" charset="0"/>
              <a:ea typeface="Inter SemiBold" panose="02000503000000020004" pitchFamily="2" charset="0"/>
            </a:endParaRPr>
          </a:p>
        </p:txBody>
      </p:sp>
      <p:cxnSp>
        <p:nvCxnSpPr>
          <p:cNvPr id="20" name="Прямая соединительная линия 19">
            <a:extLst>
              <a:ext uri="{FF2B5EF4-FFF2-40B4-BE49-F238E27FC236}">
                <a16:creationId xmlns:a16="http://schemas.microsoft.com/office/drawing/2014/main" id="{B1FF0D68-3746-5633-B442-BF1C8CB3E6DA}"/>
              </a:ext>
            </a:extLst>
          </p:cNvPr>
          <p:cNvCxnSpPr>
            <a:cxnSpLocks/>
          </p:cNvCxnSpPr>
          <p:nvPr/>
        </p:nvCxnSpPr>
        <p:spPr>
          <a:xfrm>
            <a:off x="3365852" y="2834640"/>
            <a:ext cx="1037697"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a:extLst>
              <a:ext uri="{FF2B5EF4-FFF2-40B4-BE49-F238E27FC236}">
                <a16:creationId xmlns:a16="http://schemas.microsoft.com/office/drawing/2014/main" id="{239DF953-B60E-A697-81CC-1B018A93FC80}"/>
              </a:ext>
            </a:extLst>
          </p:cNvPr>
          <p:cNvCxnSpPr>
            <a:cxnSpLocks/>
            <a:stCxn id="11" idx="3"/>
            <a:endCxn id="12" idx="1"/>
          </p:cNvCxnSpPr>
          <p:nvPr/>
        </p:nvCxnSpPr>
        <p:spPr>
          <a:xfrm flipV="1">
            <a:off x="7216951" y="2829003"/>
            <a:ext cx="1037697" cy="5637"/>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52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a:extLst>
              <a:ext uri="{FF2B5EF4-FFF2-40B4-BE49-F238E27FC236}">
                <a16:creationId xmlns:a16="http://schemas.microsoft.com/office/drawing/2014/main" id="{6DC4212C-ADAA-2E13-D7C9-14ACEBFB4ACD}"/>
              </a:ext>
            </a:extLst>
          </p:cNvPr>
          <p:cNvSpPr/>
          <p:nvPr/>
        </p:nvSpPr>
        <p:spPr>
          <a:xfrm>
            <a:off x="4621" y="-1"/>
            <a:ext cx="12192000" cy="68580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ru-RU" dirty="0">
              <a:solidFill>
                <a:srgbClr val="FFFFFF"/>
              </a:solidFill>
              <a:effectLst/>
              <a:latin typeface="Helvetica Neue" panose="02000503000000020004" pitchFamily="2" charset="0"/>
            </a:endParaRPr>
          </a:p>
        </p:txBody>
      </p:sp>
      <p:sp>
        <p:nvSpPr>
          <p:cNvPr id="9" name="TextBox 8">
            <a:extLst>
              <a:ext uri="{FF2B5EF4-FFF2-40B4-BE49-F238E27FC236}">
                <a16:creationId xmlns:a16="http://schemas.microsoft.com/office/drawing/2014/main" id="{B4788853-263B-783F-ED19-6D39CC0CDE37}"/>
              </a:ext>
            </a:extLst>
          </p:cNvPr>
          <p:cNvSpPr txBox="1"/>
          <p:nvPr/>
        </p:nvSpPr>
        <p:spPr>
          <a:xfrm>
            <a:off x="838200" y="443131"/>
            <a:ext cx="10259568" cy="584775"/>
          </a:xfrm>
          <a:prstGeom prst="rect">
            <a:avLst/>
          </a:prstGeom>
          <a:noFill/>
        </p:spPr>
        <p:txBody>
          <a:bodyPr wrap="square">
            <a:spAutoFit/>
          </a:bodyPr>
          <a:lstStyle/>
          <a:p>
            <a:r>
              <a:rPr lang="ru-RU" sz="3200" b="1" dirty="0">
                <a:solidFill>
                  <a:schemeClr val="bg1"/>
                </a:solidFill>
                <a:latin typeface="Menlo" panose="020B0609030804020204" pitchFamily="49" charset="0"/>
              </a:rPr>
              <a:t>На пути к </a:t>
            </a:r>
            <a:r>
              <a:rPr lang="en-US" sz="3200" b="1" dirty="0">
                <a:solidFill>
                  <a:schemeClr val="bg1"/>
                </a:solidFill>
                <a:latin typeface="Menlo" panose="020B0609030804020204" pitchFamily="49" charset="0"/>
              </a:rPr>
              <a:t>AGI</a:t>
            </a:r>
            <a:r>
              <a:rPr lang="ru-RU" sz="3200" b="1" dirty="0">
                <a:solidFill>
                  <a:schemeClr val="bg1"/>
                </a:solidFill>
                <a:latin typeface="Menlo" panose="020B0609030804020204" pitchFamily="49" charset="0"/>
              </a:rPr>
              <a:t>: Прорыв в науке</a:t>
            </a:r>
          </a:p>
        </p:txBody>
      </p:sp>
      <p:sp>
        <p:nvSpPr>
          <p:cNvPr id="15" name="TextBox 14">
            <a:extLst>
              <a:ext uri="{FF2B5EF4-FFF2-40B4-BE49-F238E27FC236}">
                <a16:creationId xmlns:a16="http://schemas.microsoft.com/office/drawing/2014/main" id="{A24773B0-1F9F-14C1-8A0A-1060B766C1BC}"/>
              </a:ext>
            </a:extLst>
          </p:cNvPr>
          <p:cNvSpPr txBox="1"/>
          <p:nvPr/>
        </p:nvSpPr>
        <p:spPr>
          <a:xfrm>
            <a:off x="725091" y="5484378"/>
            <a:ext cx="8441005" cy="1200329"/>
          </a:xfrm>
          <a:prstGeom prst="rect">
            <a:avLst/>
          </a:prstGeom>
          <a:noFill/>
        </p:spPr>
        <p:txBody>
          <a:bodyPr wrap="square">
            <a:spAutoFit/>
          </a:bodyPr>
          <a:lstStyle/>
          <a:p>
            <a:pPr indent="-285750">
              <a:buFont typeface="Arial" panose="020B0604020202020204" pitchFamily="34" charset="0"/>
              <a:buChar char="•"/>
            </a:pPr>
            <a:r>
              <a:rPr lang="en-US" sz="2400" b="1" dirty="0">
                <a:solidFill>
                  <a:schemeClr val="bg1"/>
                </a:solidFill>
                <a:latin typeface="Inter SemiBold" panose="02000503000000020004" pitchFamily="2" charset="0"/>
                <a:ea typeface="Inter SemiBold" panose="02000503000000020004" pitchFamily="2" charset="0"/>
                <a:hlinkClick r:id="rId2">
                  <a:extLst>
                    <a:ext uri="{A12FA001-AC4F-418D-AE19-62706E023703}">
                      <ahyp:hlinkClr xmlns:ahyp="http://schemas.microsoft.com/office/drawing/2018/hyperlinkcolor" val="tx"/>
                    </a:ext>
                  </a:extLst>
                </a:hlinkClick>
              </a:rPr>
              <a:t>Google Research</a:t>
            </a:r>
            <a:endParaRPr lang="en-US" sz="2400" b="1" dirty="0">
              <a:solidFill>
                <a:schemeClr val="bg1"/>
              </a:solidFill>
              <a:latin typeface="Inter SemiBold" panose="02000503000000020004" pitchFamily="2" charset="0"/>
              <a:ea typeface="Inter SemiBold" panose="02000503000000020004" pitchFamily="2" charset="0"/>
            </a:endParaRPr>
          </a:p>
          <a:p>
            <a:pPr indent="-285750">
              <a:buFont typeface="Arial" panose="020B0604020202020204" pitchFamily="34" charset="0"/>
              <a:buChar char="•"/>
            </a:pPr>
            <a:r>
              <a:rPr lang="en-US" sz="2400" b="1" dirty="0" err="1">
                <a:solidFill>
                  <a:schemeClr val="bg1"/>
                </a:solidFill>
                <a:latin typeface="Inter SemiBold" panose="02000503000000020004" pitchFamily="2" charset="0"/>
                <a:ea typeface="Inter SemiBold" panose="02000503000000020004" pitchFamily="2" charset="0"/>
              </a:rPr>
              <a:t>OpenAI</a:t>
            </a:r>
            <a:r>
              <a:rPr lang="en-US" sz="2400" b="1" dirty="0">
                <a:solidFill>
                  <a:schemeClr val="bg1"/>
                </a:solidFill>
                <a:latin typeface="Inter SemiBold" panose="02000503000000020004" pitchFamily="2" charset="0"/>
                <a:ea typeface="Inter SemiBold" panose="02000503000000020004" pitchFamily="2" charset="0"/>
              </a:rPr>
              <a:t> &amp; Retro Biosciences</a:t>
            </a:r>
          </a:p>
          <a:p>
            <a:pPr indent="-285750">
              <a:buFont typeface="Arial" panose="020B0604020202020204" pitchFamily="34" charset="0"/>
              <a:buChar char="•"/>
            </a:pPr>
            <a:endParaRPr lang="ru-RU" sz="2400" b="1" dirty="0">
              <a:solidFill>
                <a:schemeClr val="bg1"/>
              </a:solidFill>
              <a:latin typeface="Inter SemiBold" panose="02000503000000020004" pitchFamily="2" charset="0"/>
              <a:ea typeface="Inter SemiBold" panose="02000503000000020004" pitchFamily="2" charset="0"/>
            </a:endParaRPr>
          </a:p>
        </p:txBody>
      </p:sp>
      <p:sp>
        <p:nvSpPr>
          <p:cNvPr id="17" name="TextBox 16">
            <a:extLst>
              <a:ext uri="{FF2B5EF4-FFF2-40B4-BE49-F238E27FC236}">
                <a16:creationId xmlns:a16="http://schemas.microsoft.com/office/drawing/2014/main" id="{AC39BF35-81FF-3A7B-1903-341A5322F258}"/>
              </a:ext>
            </a:extLst>
          </p:cNvPr>
          <p:cNvSpPr txBox="1"/>
          <p:nvPr/>
        </p:nvSpPr>
        <p:spPr>
          <a:xfrm>
            <a:off x="838200" y="1555180"/>
            <a:ext cx="7615237" cy="2554545"/>
          </a:xfrm>
          <a:prstGeom prst="rect">
            <a:avLst/>
          </a:prstGeom>
          <a:noFill/>
        </p:spPr>
        <p:txBody>
          <a:bodyPr wrap="square">
            <a:spAutoFit/>
          </a:bodyPr>
          <a:lstStyle/>
          <a:p>
            <a:r>
              <a:rPr lang="en-US" sz="2000" b="1" dirty="0">
                <a:solidFill>
                  <a:schemeClr val="bg1"/>
                </a:solidFill>
                <a:latin typeface="Inter SemiBold" panose="02000503000000020004" pitchFamily="2" charset="0"/>
                <a:ea typeface="Inter SemiBold" panose="02000503000000020004" pitchFamily="2" charset="0"/>
              </a:rPr>
              <a:t>AGI – </a:t>
            </a:r>
            <a:r>
              <a:rPr lang="ru-RU" sz="2000" b="1" dirty="0">
                <a:solidFill>
                  <a:schemeClr val="bg1"/>
                </a:solidFill>
                <a:latin typeface="Inter SemiBold" panose="02000503000000020004" pitchFamily="2" charset="0"/>
                <a:ea typeface="Inter SemiBold" panose="02000503000000020004" pitchFamily="2" charset="0"/>
              </a:rPr>
              <a:t>это ИИ, который может сопоставимо с образованным взрослым человеком проявлять широту (</a:t>
            </a:r>
            <a:r>
              <a:rPr lang="en-US" sz="2000" b="1" dirty="0">
                <a:solidFill>
                  <a:schemeClr val="bg1"/>
                </a:solidFill>
                <a:latin typeface="Inter SemiBold" panose="02000503000000020004" pitchFamily="2" charset="0"/>
                <a:ea typeface="Inter SemiBold" panose="02000503000000020004" pitchFamily="2" charset="0"/>
              </a:rPr>
              <a:t>versatility) </a:t>
            </a:r>
            <a:r>
              <a:rPr lang="ru-RU" sz="2000" b="1" dirty="0">
                <a:solidFill>
                  <a:schemeClr val="bg1"/>
                </a:solidFill>
                <a:latin typeface="Inter SemiBold" panose="02000503000000020004" pitchFamily="2" charset="0"/>
                <a:ea typeface="Inter SemiBold" panose="02000503000000020004" pitchFamily="2" charset="0"/>
              </a:rPr>
              <a:t>и глубину (</a:t>
            </a:r>
            <a:r>
              <a:rPr lang="en-US" sz="2000" b="1" dirty="0">
                <a:solidFill>
                  <a:schemeClr val="bg1"/>
                </a:solidFill>
                <a:latin typeface="Inter SemiBold" panose="02000503000000020004" pitchFamily="2" charset="0"/>
                <a:ea typeface="Inter SemiBold" panose="02000503000000020004" pitchFamily="2" charset="0"/>
              </a:rPr>
              <a:t>proficiency) </a:t>
            </a:r>
            <a:r>
              <a:rPr lang="ru-RU" sz="2000" b="1" dirty="0">
                <a:solidFill>
                  <a:schemeClr val="bg1"/>
                </a:solidFill>
                <a:latin typeface="Inter SemiBold" panose="02000503000000020004" pitchFamily="2" charset="0"/>
                <a:ea typeface="Inter SemiBold" panose="02000503000000020004" pitchFamily="2" charset="0"/>
              </a:rPr>
              <a:t>когнитивных способностей.</a:t>
            </a:r>
            <a:endParaRPr lang="en-US" sz="2000" b="1" dirty="0">
              <a:solidFill>
                <a:schemeClr val="bg1"/>
              </a:solidFill>
              <a:latin typeface="Inter SemiBold" panose="02000503000000020004" pitchFamily="2" charset="0"/>
              <a:ea typeface="Inter SemiBold" panose="02000503000000020004" pitchFamily="2" charset="0"/>
            </a:endParaRPr>
          </a:p>
          <a:p>
            <a:endParaRPr lang="en-US" sz="2000" b="1" dirty="0">
              <a:solidFill>
                <a:schemeClr val="bg1"/>
              </a:solidFill>
              <a:latin typeface="Inter SemiBold" panose="02000503000000020004" pitchFamily="2" charset="0"/>
              <a:ea typeface="Inter SemiBold" panose="02000503000000020004" pitchFamily="2" charset="0"/>
            </a:endParaRPr>
          </a:p>
          <a:p>
            <a:r>
              <a:rPr lang="ru-RU" sz="2000" b="1" dirty="0">
                <a:solidFill>
                  <a:schemeClr val="bg1"/>
                </a:solidFill>
                <a:latin typeface="Inter SemiBold" panose="02000503000000020004" pitchFamily="2" charset="0"/>
                <a:ea typeface="Inter SemiBold" panose="02000503000000020004" pitchFamily="2" charset="0"/>
              </a:rPr>
              <a:t>По данным учёных, </a:t>
            </a:r>
            <a:r>
              <a:rPr lang="en-US" sz="2000" b="1" dirty="0">
                <a:solidFill>
                  <a:schemeClr val="bg1"/>
                </a:solidFill>
                <a:latin typeface="Inter SemiBold" panose="02000503000000020004" pitchFamily="2" charset="0"/>
                <a:ea typeface="Inter SemiBold" panose="02000503000000020004" pitchFamily="2" charset="0"/>
              </a:rPr>
              <a:t>GPT-4 </a:t>
            </a:r>
            <a:endParaRPr lang="ru-RU" sz="2000" b="1" dirty="0">
              <a:solidFill>
                <a:schemeClr val="bg1"/>
              </a:solidFill>
              <a:latin typeface="Inter SemiBold" panose="02000503000000020004" pitchFamily="2" charset="0"/>
              <a:ea typeface="Inter SemiBold" panose="02000503000000020004" pitchFamily="2" charset="0"/>
            </a:endParaRPr>
          </a:p>
          <a:p>
            <a:r>
              <a:rPr lang="ru-RU" sz="2000" b="1" dirty="0">
                <a:solidFill>
                  <a:schemeClr val="bg1"/>
                </a:solidFill>
                <a:latin typeface="Inter SemiBold" panose="02000503000000020004" pitchFamily="2" charset="0"/>
                <a:ea typeface="Inter SemiBold" panose="02000503000000020004" pitchFamily="2" charset="0"/>
              </a:rPr>
              <a:t>является </a:t>
            </a:r>
            <a:r>
              <a:rPr lang="en-US" sz="2000" b="1" dirty="0">
                <a:solidFill>
                  <a:schemeClr val="bg1"/>
                </a:solidFill>
                <a:latin typeface="Inter SemiBold" panose="02000503000000020004" pitchFamily="2" charset="0"/>
                <a:ea typeface="Inter SemiBold" panose="02000503000000020004" pitchFamily="2" charset="0"/>
              </a:rPr>
              <a:t>AGI </a:t>
            </a:r>
            <a:r>
              <a:rPr lang="ru-RU" sz="2000" b="1" dirty="0">
                <a:solidFill>
                  <a:schemeClr val="bg1"/>
                </a:solidFill>
                <a:latin typeface="Inter SemiBold" panose="02000503000000020004" pitchFamily="2" charset="0"/>
                <a:ea typeface="Inter SemiBold" panose="02000503000000020004" pitchFamily="2" charset="0"/>
              </a:rPr>
              <a:t>всего на 27%, а </a:t>
            </a:r>
            <a:r>
              <a:rPr lang="en-US" sz="2000" b="1" dirty="0">
                <a:solidFill>
                  <a:schemeClr val="bg1"/>
                </a:solidFill>
                <a:latin typeface="Inter SemiBold" panose="02000503000000020004" pitchFamily="2" charset="0"/>
                <a:ea typeface="Inter SemiBold" panose="02000503000000020004" pitchFamily="2" charset="0"/>
              </a:rPr>
              <a:t>GPT-5 – </a:t>
            </a:r>
            <a:r>
              <a:rPr lang="ru-RU" sz="2000" b="1" dirty="0">
                <a:solidFill>
                  <a:schemeClr val="bg1"/>
                </a:solidFill>
                <a:latin typeface="Inter SemiBold" panose="02000503000000020004" pitchFamily="2" charset="0"/>
                <a:ea typeface="Inter SemiBold" panose="02000503000000020004" pitchFamily="2" charset="0"/>
              </a:rPr>
              <a:t>на 58%</a:t>
            </a:r>
          </a:p>
          <a:p>
            <a:endParaRPr lang="ru-RU" sz="2000" b="1" dirty="0">
              <a:solidFill>
                <a:schemeClr val="bg1"/>
              </a:solidFill>
              <a:latin typeface="Inter SemiBold" panose="02000503000000020004" pitchFamily="2" charset="0"/>
              <a:ea typeface="Inter SemiBold" panose="02000503000000020004" pitchFamily="2" charset="0"/>
            </a:endParaRPr>
          </a:p>
        </p:txBody>
      </p:sp>
      <p:pic>
        <p:nvPicPr>
          <p:cNvPr id="19" name="Рисунок 18">
            <a:extLst>
              <a:ext uri="{FF2B5EF4-FFF2-40B4-BE49-F238E27FC236}">
                <a16:creationId xmlns:a16="http://schemas.microsoft.com/office/drawing/2014/main" id="{D4D0E1FC-AEE2-6F2B-3FA2-25B1B51A58AF}"/>
              </a:ext>
            </a:extLst>
          </p:cNvPr>
          <p:cNvPicPr>
            <a:picLocks noChangeAspect="1"/>
          </p:cNvPicPr>
          <p:nvPr/>
        </p:nvPicPr>
        <p:blipFill>
          <a:blip r:embed="rId3"/>
          <a:stretch>
            <a:fillRect/>
          </a:stretch>
        </p:blipFill>
        <p:spPr>
          <a:xfrm>
            <a:off x="7200900" y="3049379"/>
            <a:ext cx="4520806" cy="3365489"/>
          </a:xfrm>
          <a:prstGeom prst="rect">
            <a:avLst/>
          </a:prstGeom>
        </p:spPr>
      </p:pic>
    </p:spTree>
    <p:extLst>
      <p:ext uri="{BB962C8B-B14F-4D97-AF65-F5344CB8AC3E}">
        <p14:creationId xmlns:p14="http://schemas.microsoft.com/office/powerpoint/2010/main" val="2375525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a:extLst>
              <a:ext uri="{FF2B5EF4-FFF2-40B4-BE49-F238E27FC236}">
                <a16:creationId xmlns:a16="http://schemas.microsoft.com/office/drawing/2014/main" id="{6DC4212C-ADAA-2E13-D7C9-14ACEBFB4ACD}"/>
              </a:ext>
            </a:extLst>
          </p:cNvPr>
          <p:cNvSpPr/>
          <p:nvPr/>
        </p:nvSpPr>
        <p:spPr>
          <a:xfrm>
            <a:off x="4621" y="-1"/>
            <a:ext cx="12192000" cy="68580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a:extLst>
              <a:ext uri="{FF2B5EF4-FFF2-40B4-BE49-F238E27FC236}">
                <a16:creationId xmlns:a16="http://schemas.microsoft.com/office/drawing/2014/main" id="{B4788853-263B-783F-ED19-6D39CC0CDE37}"/>
              </a:ext>
            </a:extLst>
          </p:cNvPr>
          <p:cNvSpPr txBox="1"/>
          <p:nvPr/>
        </p:nvSpPr>
        <p:spPr>
          <a:xfrm>
            <a:off x="838200" y="443131"/>
            <a:ext cx="10259568" cy="584775"/>
          </a:xfrm>
          <a:prstGeom prst="rect">
            <a:avLst/>
          </a:prstGeom>
          <a:noFill/>
        </p:spPr>
        <p:txBody>
          <a:bodyPr wrap="square">
            <a:spAutoFit/>
          </a:bodyPr>
          <a:lstStyle/>
          <a:p>
            <a:r>
              <a:rPr lang="ru-RU" sz="3200" b="1" dirty="0">
                <a:solidFill>
                  <a:schemeClr val="bg1"/>
                </a:solidFill>
                <a:latin typeface="Menlo" panose="020B0609030804020204" pitchFamily="49" charset="0"/>
              </a:rPr>
              <a:t>Инженерия в эпоху интеллекта</a:t>
            </a:r>
          </a:p>
        </p:txBody>
      </p:sp>
      <p:sp>
        <p:nvSpPr>
          <p:cNvPr id="11" name="TextBox 10">
            <a:extLst>
              <a:ext uri="{FF2B5EF4-FFF2-40B4-BE49-F238E27FC236}">
                <a16:creationId xmlns:a16="http://schemas.microsoft.com/office/drawing/2014/main" id="{0FC9F168-3317-27E8-888B-9B1915C44C4C}"/>
              </a:ext>
            </a:extLst>
          </p:cNvPr>
          <p:cNvSpPr txBox="1"/>
          <p:nvPr/>
        </p:nvSpPr>
        <p:spPr>
          <a:xfrm>
            <a:off x="838200" y="4783653"/>
            <a:ext cx="3220844" cy="1631216"/>
          </a:xfrm>
          <a:prstGeom prst="rect">
            <a:avLst/>
          </a:prstGeom>
          <a:noFill/>
        </p:spPr>
        <p:txBody>
          <a:bodyPr wrap="square">
            <a:spAutoFit/>
          </a:bodyPr>
          <a:lstStyle/>
          <a:p>
            <a:r>
              <a:rPr lang="ru-RU" sz="2000" b="1" dirty="0">
                <a:solidFill>
                  <a:schemeClr val="bg1"/>
                </a:solidFill>
                <a:latin typeface="Inter SemiBold" panose="02000503000000020004" pitchFamily="2" charset="0"/>
                <a:ea typeface="Inter SemiBold" panose="02000503000000020004" pitchFamily="2" charset="0"/>
              </a:rPr>
              <a:t>ИИ — это не инструмент, а новый партнер в решении самых сложных инженерных задач.</a:t>
            </a:r>
            <a:endParaRPr lang="en-US" sz="2000" b="1" dirty="0">
              <a:solidFill>
                <a:schemeClr val="bg1"/>
              </a:solidFill>
              <a:latin typeface="Inter SemiBold" panose="02000503000000020004" pitchFamily="2" charset="0"/>
              <a:ea typeface="Inter SemiBold" panose="02000503000000020004" pitchFamily="2" charset="0"/>
            </a:endParaRPr>
          </a:p>
        </p:txBody>
      </p:sp>
      <p:pic>
        <p:nvPicPr>
          <p:cNvPr id="6" name="Picture 2" descr="a bar chart with four bars showing the enterprises using AI technologies, by size and by class in the EU in the years 2023 and 2024. For more details please use the link to the source dataset code below the image.">
            <a:extLst>
              <a:ext uri="{FF2B5EF4-FFF2-40B4-BE49-F238E27FC236}">
                <a16:creationId xmlns:a16="http://schemas.microsoft.com/office/drawing/2014/main" id="{36EC6E75-8565-EDC9-FFCE-A5F3AFC88F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0121" y="1471038"/>
            <a:ext cx="7426357" cy="4943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19264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TotalTime>
  <Words>135</Words>
  <Application>Microsoft Macintosh PowerPoint</Application>
  <PresentationFormat>Широкоэкранный</PresentationFormat>
  <Paragraphs>27</Paragraphs>
  <Slides>5</Slides>
  <Notes>0</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5</vt:i4>
      </vt:variant>
    </vt:vector>
  </HeadingPairs>
  <TitlesOfParts>
    <vt:vector size="15" baseType="lpstr">
      <vt:lpstr>Calibri Light</vt:lpstr>
      <vt:lpstr>Menlo</vt:lpstr>
      <vt:lpstr>Inter ExtraBold</vt:lpstr>
      <vt:lpstr>Arial</vt:lpstr>
      <vt:lpstr>Inter SemiBold</vt:lpstr>
      <vt:lpstr>Helvetica Neue</vt:lpstr>
      <vt:lpstr>quote-cjk-patch</vt:lpstr>
      <vt:lpstr>Calibri</vt:lpstr>
      <vt:lpstr>Inter</vt:lpstr>
      <vt:lpstr>Тема Office</vt:lpstr>
      <vt:lpstr>Искусственный интеллект в инженерии</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Искусственный интеллект в инженерии</dc:title>
  <dc:creator>Елисей Стойко</dc:creator>
  <cp:lastModifiedBy>Елисей Стойко</cp:lastModifiedBy>
  <cp:revision>11</cp:revision>
  <dcterms:created xsi:type="dcterms:W3CDTF">2025-11-12T07:59:46Z</dcterms:created>
  <dcterms:modified xsi:type="dcterms:W3CDTF">2025-11-12T14:38:03Z</dcterms:modified>
</cp:coreProperties>
</file>